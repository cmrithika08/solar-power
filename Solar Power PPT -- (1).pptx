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4" r:id="rId1"/>
  </p:sldMasterIdLst>
  <p:sldIdLst>
    <p:sldId id="256" r:id="rId2"/>
    <p:sldId id="282" r:id="rId3"/>
    <p:sldId id="257" r:id="rId4"/>
    <p:sldId id="258" r:id="rId5"/>
    <p:sldId id="259" r:id="rId6"/>
    <p:sldId id="269" r:id="rId7"/>
    <p:sldId id="285" r:id="rId8"/>
    <p:sldId id="274" r:id="rId9"/>
    <p:sldId id="283" r:id="rId10"/>
    <p:sldId id="284" r:id="rId11"/>
    <p:sldId id="260" r:id="rId12"/>
    <p:sldId id="261" r:id="rId13"/>
    <p:sldId id="275" r:id="rId14"/>
    <p:sldId id="287" r:id="rId15"/>
    <p:sldId id="262" r:id="rId16"/>
    <p:sldId id="263" r:id="rId17"/>
    <p:sldId id="280" r:id="rId18"/>
    <p:sldId id="266" r:id="rId19"/>
    <p:sldId id="267" r:id="rId20"/>
    <p:sldId id="270" r:id="rId21"/>
    <p:sldId id="271" r:id="rId22"/>
    <p:sldId id="279" r:id="rId23"/>
    <p:sldId id="281" r:id="rId24"/>
    <p:sldId id="286" r:id="rId25"/>
    <p:sldId id="273"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C562C72-6709-464E-BE51-A9787811C57F}">
          <p14:sldIdLst>
            <p14:sldId id="256"/>
            <p14:sldId id="282"/>
            <p14:sldId id="257"/>
            <p14:sldId id="258"/>
            <p14:sldId id="259"/>
            <p14:sldId id="269"/>
            <p14:sldId id="285"/>
            <p14:sldId id="274"/>
            <p14:sldId id="283"/>
            <p14:sldId id="284"/>
            <p14:sldId id="260"/>
            <p14:sldId id="261"/>
            <p14:sldId id="275"/>
            <p14:sldId id="287"/>
            <p14:sldId id="262"/>
          </p14:sldIdLst>
        </p14:section>
        <p14:section name="Untitled Section" id="{ABD4EE76-356D-44CE-8588-28C564AE349E}">
          <p14:sldIdLst>
            <p14:sldId id="263"/>
            <p14:sldId id="280"/>
            <p14:sldId id="266"/>
            <p14:sldId id="267"/>
            <p14:sldId id="270"/>
            <p14:sldId id="271"/>
            <p14:sldId id="279"/>
            <p14:sldId id="281"/>
            <p14:sldId id="286"/>
            <p14:sldId id="27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snapToObjects="1">
      <p:cViewPr varScale="1">
        <p:scale>
          <a:sx n="62" d="100"/>
          <a:sy n="62" d="100"/>
        </p:scale>
        <p:origin x="1364"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09213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1243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99910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74830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72125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77287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7045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75230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20490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56877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553609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14222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07090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13183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535579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5325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4/24/2025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091714691"/>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49207" y="513708"/>
            <a:ext cx="7772400" cy="508039"/>
          </a:xfrm>
        </p:spPr>
        <p:txBody>
          <a:bodyPr>
            <a:normAutofit fontScale="90000"/>
          </a:bodyPr>
          <a:lstStyle/>
          <a:p>
            <a:r>
              <a:rPr lang="en-IN" sz="3600" dirty="0">
                <a:latin typeface="Arial" panose="020B0604020202020204" pitchFamily="34" charset="0"/>
                <a:cs typeface="Arial" panose="020B0604020202020204" pitchFamily="34" charset="0"/>
              </a:rPr>
              <a:t>Solar Power Generation Prediction</a:t>
            </a:r>
            <a:endParaRPr sz="36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1098174" y="1058828"/>
            <a:ext cx="6400800" cy="412442"/>
          </a:xfrm>
        </p:spPr>
        <p:txBody>
          <a:bodyPr/>
          <a:lstStyle/>
          <a:p>
            <a:pPr algn="ctr"/>
            <a:r>
              <a:rPr dirty="0">
                <a:latin typeface="Arial" panose="020B0604020202020204" pitchFamily="34" charset="0"/>
                <a:cs typeface="Arial" panose="020B0604020202020204" pitchFamily="34" charset="0"/>
              </a:rPr>
              <a:t>A Data Science Project | Machine Learning &amp; Deployment</a:t>
            </a:r>
          </a:p>
        </p:txBody>
      </p:sp>
      <p:sp>
        <p:nvSpPr>
          <p:cNvPr id="4" name="TextBox 3">
            <a:extLst>
              <a:ext uri="{FF2B5EF4-FFF2-40B4-BE49-F238E27FC236}">
                <a16:creationId xmlns:a16="http://schemas.microsoft.com/office/drawing/2014/main" id="{B09A1B53-07BB-2772-9EA5-9FBE2EFF8E69}"/>
              </a:ext>
            </a:extLst>
          </p:cNvPr>
          <p:cNvSpPr txBox="1"/>
          <p:nvPr/>
        </p:nvSpPr>
        <p:spPr>
          <a:xfrm>
            <a:off x="4955303" y="3132496"/>
            <a:ext cx="2543671" cy="923330"/>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Institution:</a:t>
            </a:r>
            <a:r>
              <a:rPr lang="en-IN" dirty="0">
                <a:latin typeface="Arial" panose="020B0604020202020204" pitchFamily="34" charset="0"/>
                <a:cs typeface="Arial" panose="020B0604020202020204" pitchFamily="34" charset="0"/>
              </a:rPr>
              <a:t> AI Variant</a:t>
            </a:r>
          </a:p>
          <a:p>
            <a:r>
              <a:rPr lang="en-IN" b="1" dirty="0">
                <a:latin typeface="Arial" panose="020B0604020202020204" pitchFamily="34" charset="0"/>
                <a:cs typeface="Arial" panose="020B0604020202020204" pitchFamily="34" charset="0"/>
              </a:rPr>
              <a:t>Date:24-04-2025</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3D19B7-8A82-4F67-A265-494276D90D23}"/>
              </a:ext>
            </a:extLst>
          </p:cNvPr>
          <p:cNvSpPr txBox="1"/>
          <p:nvPr/>
        </p:nvSpPr>
        <p:spPr>
          <a:xfrm>
            <a:off x="1057931" y="1166842"/>
            <a:ext cx="7713207" cy="4524315"/>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Project by:</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Mentor :- </a:t>
            </a:r>
            <a:r>
              <a:rPr lang="en-IN" dirty="0">
                <a:latin typeface="Times New Roman" panose="02020603050405020304" pitchFamily="18" charset="0"/>
                <a:cs typeface="Times New Roman" panose="02020603050405020304" pitchFamily="18" charset="0"/>
              </a:rPr>
              <a:t>Bapuram pallavi &amp; Neha Ramchandani</a:t>
            </a: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Candidates:-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 BHANU TEJA L</a:t>
            </a:r>
          </a:p>
          <a:p>
            <a:r>
              <a:rPr lang="en-IN" dirty="0">
                <a:latin typeface="Times New Roman" panose="02020603050405020304" pitchFamily="18" charset="0"/>
                <a:cs typeface="Times New Roman" panose="02020603050405020304" pitchFamily="18" charset="0"/>
              </a:rPr>
              <a:t>2) C </a:t>
            </a:r>
            <a:r>
              <a:rPr lang="en-IN" dirty="0" err="1">
                <a:latin typeface="Times New Roman" panose="02020603050405020304" pitchFamily="18" charset="0"/>
                <a:cs typeface="Times New Roman" panose="02020603050405020304" pitchFamily="18" charset="0"/>
              </a:rPr>
              <a:t>Binu</a:t>
            </a:r>
            <a:r>
              <a:rPr lang="en-IN" dirty="0">
                <a:latin typeface="Times New Roman" panose="02020603050405020304" pitchFamily="18" charset="0"/>
                <a:cs typeface="Times New Roman" panose="02020603050405020304" pitchFamily="18" charset="0"/>
              </a:rPr>
              <a:t> Krishna</a:t>
            </a:r>
          </a:p>
          <a:p>
            <a:r>
              <a:rPr lang="en-IN" dirty="0">
                <a:latin typeface="Times New Roman" panose="02020603050405020304" pitchFamily="18" charset="0"/>
                <a:cs typeface="Times New Roman" panose="02020603050405020304" pitchFamily="18" charset="0"/>
              </a:rPr>
              <a:t>3) C M </a:t>
            </a:r>
            <a:r>
              <a:rPr lang="en-IN" dirty="0" err="1">
                <a:latin typeface="Times New Roman" panose="02020603050405020304" pitchFamily="18" charset="0"/>
                <a:cs typeface="Times New Roman" panose="02020603050405020304" pitchFamily="18" charset="0"/>
              </a:rPr>
              <a:t>Rithika</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4) KARTHIK ND</a:t>
            </a:r>
          </a:p>
          <a:p>
            <a:r>
              <a:rPr lang="en-IN" dirty="0">
                <a:latin typeface="Times New Roman" panose="02020603050405020304" pitchFamily="18" charset="0"/>
                <a:cs typeface="Times New Roman" panose="02020603050405020304" pitchFamily="18" charset="0"/>
              </a:rPr>
              <a:t>5) </a:t>
            </a:r>
            <a:r>
              <a:rPr lang="en-IN" dirty="0" err="1">
                <a:latin typeface="Times New Roman" panose="02020603050405020304" pitchFamily="18" charset="0"/>
                <a:cs typeface="Times New Roman" panose="02020603050405020304" pitchFamily="18" charset="0"/>
              </a:rPr>
              <a:t>Mishael</a:t>
            </a:r>
            <a:r>
              <a:rPr lang="en-IN" dirty="0">
                <a:latin typeface="Times New Roman" panose="02020603050405020304" pitchFamily="18" charset="0"/>
                <a:cs typeface="Times New Roman" panose="02020603050405020304" pitchFamily="18" charset="0"/>
              </a:rPr>
              <a:t> Vinod Sathe</a:t>
            </a:r>
          </a:p>
          <a:p>
            <a:r>
              <a:rPr lang="en-IN" dirty="0">
                <a:latin typeface="Times New Roman" panose="02020603050405020304" pitchFamily="18" charset="0"/>
                <a:cs typeface="Times New Roman" panose="02020603050405020304" pitchFamily="18" charset="0"/>
              </a:rPr>
              <a:t>6) Rushikesh Vilas Garade</a:t>
            </a:r>
          </a:p>
          <a:p>
            <a:r>
              <a:rPr lang="en-IN" dirty="0">
                <a:latin typeface="Times New Roman" panose="02020603050405020304" pitchFamily="18" charset="0"/>
                <a:cs typeface="Times New Roman" panose="02020603050405020304" pitchFamily="18" charset="0"/>
              </a:rPr>
              <a:t>7) </a:t>
            </a:r>
            <a:r>
              <a:rPr lang="en-IN" dirty="0" err="1">
                <a:latin typeface="Times New Roman" panose="02020603050405020304" pitchFamily="18" charset="0"/>
                <a:cs typeface="Times New Roman" panose="02020603050405020304" pitchFamily="18" charset="0"/>
              </a:rPr>
              <a:t>Vurvesh</a:t>
            </a:r>
            <a:r>
              <a:rPr lang="en-IN" dirty="0">
                <a:latin typeface="Times New Roman" panose="02020603050405020304" pitchFamily="18" charset="0"/>
                <a:cs typeface="Times New Roman" panose="02020603050405020304" pitchFamily="18" charset="0"/>
              </a:rPr>
              <a:t> kale</a:t>
            </a:r>
          </a:p>
          <a:p>
            <a:pPr marL="0" rtl="0" eaLnBrk="1" fontAlgn="b" latinLnBrk="0" hangingPunct="1"/>
            <a:endParaRPr lang="en-IN" sz="1800" b="0" i="0" u="none" strike="noStrike" dirty="0">
              <a:effectLst/>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
        <p:nvSpPr>
          <p:cNvPr id="5" name="Rectangle 2">
            <a:extLst>
              <a:ext uri="{FF2B5EF4-FFF2-40B4-BE49-F238E27FC236}">
                <a16:creationId xmlns:a16="http://schemas.microsoft.com/office/drawing/2014/main" id="{CD693A90-023B-487C-8B0C-681F8E0A3B69}"/>
              </a:ext>
            </a:extLst>
          </p:cNvPr>
          <p:cNvSpPr>
            <a:spLocks noChangeArrowheads="1"/>
          </p:cNvSpPr>
          <p:nvPr/>
        </p:nvSpPr>
        <p:spPr bwMode="auto">
          <a:xfrm>
            <a:off x="609600" y="3827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32064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957312" cy="816637"/>
          </a:xfrm>
        </p:spPr>
        <p:txBody>
          <a:bodyPr/>
          <a:lstStyle/>
          <a:p>
            <a:r>
              <a:rPr dirty="0"/>
              <a:t>Introduction </a:t>
            </a:r>
            <a:r>
              <a:rPr lang="en-US" dirty="0"/>
              <a:t>&amp;</a:t>
            </a:r>
            <a:r>
              <a:rPr dirty="0"/>
              <a:t> </a:t>
            </a:r>
            <a:r>
              <a:rPr dirty="0">
                <a:latin typeface="Times New Roman" panose="02020603050405020304" pitchFamily="18" charset="0"/>
                <a:cs typeface="Times New Roman" panose="02020603050405020304" pitchFamily="18" charset="0"/>
              </a:rPr>
              <a:t>Business</a:t>
            </a:r>
            <a:r>
              <a:rPr dirty="0"/>
              <a:t> Problem</a:t>
            </a:r>
          </a:p>
        </p:txBody>
      </p:sp>
      <p:sp>
        <p:nvSpPr>
          <p:cNvPr id="3" name="Content Placeholder 2"/>
          <p:cNvSpPr>
            <a:spLocks noGrp="1"/>
          </p:cNvSpPr>
          <p:nvPr>
            <p:ph idx="1"/>
          </p:nvPr>
        </p:nvSpPr>
        <p:spPr>
          <a:xfrm>
            <a:off x="496583" y="1036840"/>
            <a:ext cx="6347714" cy="3880773"/>
          </a:xfrm>
        </p:spPr>
        <p:txBody>
          <a:bodyPr/>
          <a:lstStyle/>
          <a:p>
            <a:r>
              <a:rPr lang="en-US" b="1" dirty="0">
                <a:latin typeface="Arial" panose="020B0604020202020204" pitchFamily="34" charset="0"/>
                <a:cs typeface="Arial" panose="020B0604020202020204" pitchFamily="34" charset="0"/>
              </a:rPr>
              <a:t>Objective</a:t>
            </a:r>
            <a:r>
              <a:rPr lang="en-US" dirty="0">
                <a:latin typeface="Arial" panose="020B0604020202020204" pitchFamily="34" charset="0"/>
                <a:cs typeface="Arial" panose="020B0604020202020204" pitchFamily="34" charset="0"/>
              </a:rPr>
              <a:t>: Predict solar power generation based on environmental conditions.</a:t>
            </a:r>
          </a:p>
          <a:p>
            <a:pPr marL="0" indent="0">
              <a:buNone/>
            </a:pPr>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Why it matters</a:t>
            </a:r>
            <a:r>
              <a:rPr lang="en-US" dirty="0">
                <a:latin typeface="Arial" panose="020B0604020202020204" pitchFamily="34" charset="0"/>
                <a:cs typeface="Arial" panose="020B0604020202020204" pitchFamily="34" charset="0"/>
              </a:rPr>
              <a:t>: Accurate prediction helps in energy planning, grid optimization, and renewable energy investment decisions.</a:t>
            </a:r>
          </a:p>
          <a:p>
            <a:pPr marL="0" indent="0">
              <a:buNone/>
            </a:pPr>
            <a:endParaRPr lang="en-US"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Problem Type</a:t>
            </a:r>
            <a:r>
              <a:rPr lang="en-IN" dirty="0">
                <a:latin typeface="Arial" panose="020B0604020202020204" pitchFamily="34" charset="0"/>
                <a:cs typeface="Arial" panose="020B0604020202020204" pitchFamily="34" charset="0"/>
              </a:rPr>
              <a:t>: Regression — the target variable “power_generated” is continuous</a:t>
            </a:r>
            <a:endParaRPr lang="en-US" dirty="0">
              <a:latin typeface="Arial" panose="020B0604020202020204" pitchFamily="34" charset="0"/>
              <a:cs typeface="Arial" panose="020B0604020202020204" pitchFamily="34" charset="0"/>
            </a:endParaRPr>
          </a:p>
          <a:p>
            <a:endParaRPr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274"/>
            <a:ext cx="6347713" cy="784195"/>
          </a:xfrm>
        </p:spPr>
        <p:txBody>
          <a:bodyPr/>
          <a:lstStyle/>
          <a:p>
            <a:r>
              <a:rPr dirty="0"/>
              <a:t>Dataset Overview</a:t>
            </a:r>
          </a:p>
        </p:txBody>
      </p:sp>
      <p:sp>
        <p:nvSpPr>
          <p:cNvPr id="3" name="Content Placeholder 2"/>
          <p:cNvSpPr>
            <a:spLocks noGrp="1"/>
          </p:cNvSpPr>
          <p:nvPr>
            <p:ph idx="1"/>
          </p:nvPr>
        </p:nvSpPr>
        <p:spPr>
          <a:xfrm>
            <a:off x="0" y="1095076"/>
            <a:ext cx="9144000" cy="5461000"/>
          </a:xfrm>
        </p:spPr>
        <p:txBody>
          <a:bodyPr>
            <a:normAutofit lnSpcReduction="10000"/>
          </a:bodyPr>
          <a:lstStyle/>
          <a:p>
            <a:r>
              <a:rPr lang="en-IN" b="1" dirty="0">
                <a:latin typeface="Arial" panose="020B0604020202020204" pitchFamily="34" charset="0"/>
                <a:cs typeface="Arial" panose="020B0604020202020204" pitchFamily="34" charset="0"/>
              </a:rPr>
              <a:t>Rows</a:t>
            </a:r>
            <a:r>
              <a:rPr lang="en-IN" dirty="0">
                <a:latin typeface="Arial" panose="020B0604020202020204" pitchFamily="34" charset="0"/>
                <a:cs typeface="Arial" panose="020B0604020202020204" pitchFamily="34" charset="0"/>
              </a:rPr>
              <a:t>: 2920</a:t>
            </a:r>
          </a:p>
          <a:p>
            <a:r>
              <a:rPr lang="en-IN" b="1" dirty="0">
                <a:latin typeface="Arial" panose="020B0604020202020204" pitchFamily="34" charset="0"/>
                <a:cs typeface="Arial" panose="020B0604020202020204" pitchFamily="34" charset="0"/>
              </a:rPr>
              <a:t>Features</a:t>
            </a:r>
            <a:r>
              <a:rPr lang="en-IN" dirty="0">
                <a:latin typeface="Arial" panose="020B0604020202020204" pitchFamily="34" charset="0"/>
                <a:cs typeface="Arial" panose="020B0604020202020204" pitchFamily="34" charset="0"/>
              </a:rPr>
              <a:t>: 9 independent variables</a:t>
            </a:r>
          </a:p>
          <a:p>
            <a:r>
              <a:rPr lang="en-IN" b="1" dirty="0">
                <a:latin typeface="Arial" panose="020B0604020202020204" pitchFamily="34" charset="0"/>
                <a:cs typeface="Arial" panose="020B0604020202020204" pitchFamily="34" charset="0"/>
              </a:rPr>
              <a:t>Target</a:t>
            </a:r>
            <a:r>
              <a:rPr lang="en-IN" dirty="0">
                <a:latin typeface="Arial" panose="020B0604020202020204" pitchFamily="34" charset="0"/>
                <a:cs typeface="Arial" panose="020B0604020202020204" pitchFamily="34" charset="0"/>
              </a:rPr>
              <a:t>: power_generated</a:t>
            </a:r>
          </a:p>
          <a:p>
            <a:r>
              <a:rPr lang="en-US" b="1" dirty="0">
                <a:latin typeface="Arial" panose="020B0604020202020204" pitchFamily="34" charset="0"/>
                <a:cs typeface="Arial" panose="020B0604020202020204" pitchFamily="34" charset="0"/>
              </a:rPr>
              <a:t>Key features:</a:t>
            </a:r>
          </a:p>
          <a:p>
            <a:pPr marL="812800" indent="-368300">
              <a:buFont typeface="+mj-lt"/>
              <a:buAutoNum type="arabicPeriod"/>
            </a:pPr>
            <a:r>
              <a:rPr lang="en-US" sz="2400" dirty="0">
                <a:latin typeface="Arial" panose="020B0604020202020204" pitchFamily="34" charset="0"/>
                <a:cs typeface="Arial" panose="020B0604020202020204" pitchFamily="34" charset="0"/>
              </a:rPr>
              <a:t>Distance to Solar Noon</a:t>
            </a:r>
          </a:p>
          <a:p>
            <a:pPr marL="812800" indent="-368300">
              <a:buFont typeface="+mj-lt"/>
              <a:buAutoNum type="arabicPeriod"/>
            </a:pPr>
            <a:r>
              <a:rPr lang="en-US" sz="2400" dirty="0">
                <a:latin typeface="Arial" panose="020B0604020202020204" pitchFamily="34" charset="0"/>
                <a:cs typeface="Arial" panose="020B0604020202020204" pitchFamily="34" charset="0"/>
              </a:rPr>
              <a:t>Temperature</a:t>
            </a:r>
          </a:p>
          <a:p>
            <a:pPr marL="812800" indent="-368300">
              <a:buFont typeface="+mj-lt"/>
              <a:buAutoNum type="arabicPeriod"/>
            </a:pPr>
            <a:r>
              <a:rPr lang="en-US" sz="2400" dirty="0">
                <a:latin typeface="Arial" panose="020B0604020202020204" pitchFamily="34" charset="0"/>
                <a:cs typeface="Arial" panose="020B0604020202020204" pitchFamily="34" charset="0"/>
              </a:rPr>
              <a:t>Wind Direction &amp; Speed</a:t>
            </a:r>
          </a:p>
          <a:p>
            <a:pPr marL="812800" indent="-368300">
              <a:buFont typeface="+mj-lt"/>
              <a:buAutoNum type="arabicPeriod"/>
            </a:pPr>
            <a:r>
              <a:rPr lang="en-US" sz="2400" dirty="0">
                <a:latin typeface="Arial" panose="020B0604020202020204" pitchFamily="34" charset="0"/>
                <a:cs typeface="Arial" panose="020B0604020202020204" pitchFamily="34" charset="0"/>
              </a:rPr>
              <a:t>Sky Cover</a:t>
            </a:r>
          </a:p>
          <a:p>
            <a:pPr marL="812800" indent="-368300">
              <a:buFont typeface="+mj-lt"/>
              <a:buAutoNum type="arabicPeriod"/>
            </a:pPr>
            <a:r>
              <a:rPr lang="en-US" sz="2400" dirty="0">
                <a:latin typeface="Arial" panose="020B0604020202020204" pitchFamily="34" charset="0"/>
                <a:cs typeface="Arial" panose="020B0604020202020204" pitchFamily="34" charset="0"/>
              </a:rPr>
              <a:t>Visibility</a:t>
            </a:r>
          </a:p>
          <a:p>
            <a:pPr marL="812800" indent="-368300">
              <a:buFont typeface="+mj-lt"/>
              <a:buAutoNum type="arabicPeriod"/>
            </a:pPr>
            <a:r>
              <a:rPr lang="en-US" sz="2400" dirty="0">
                <a:latin typeface="Arial" panose="020B0604020202020204" pitchFamily="34" charset="0"/>
                <a:cs typeface="Arial" panose="020B0604020202020204" pitchFamily="34" charset="0"/>
              </a:rPr>
              <a:t>Humidity</a:t>
            </a:r>
          </a:p>
          <a:p>
            <a:pPr marL="812800" indent="-368300">
              <a:buFont typeface="+mj-lt"/>
              <a:buAutoNum type="arabicPeriod"/>
            </a:pPr>
            <a:r>
              <a:rPr lang="en-US" sz="2400" dirty="0">
                <a:latin typeface="Arial" panose="020B0604020202020204" pitchFamily="34" charset="0"/>
                <a:cs typeface="Arial" panose="020B0604020202020204" pitchFamily="34" charset="0"/>
              </a:rPr>
              <a:t>Avg Wind Speed (Period)</a:t>
            </a:r>
          </a:p>
          <a:p>
            <a:pPr marL="812800" indent="-368300">
              <a:buFont typeface="+mj-lt"/>
              <a:buAutoNum type="arabicPeriod"/>
            </a:pPr>
            <a:r>
              <a:rPr lang="en-US" sz="2400" dirty="0">
                <a:latin typeface="Arial" panose="020B0604020202020204" pitchFamily="34" charset="0"/>
                <a:cs typeface="Arial" panose="020B0604020202020204" pitchFamily="34" charset="0"/>
              </a:rPr>
              <a:t>Avg Pressure (Period)</a:t>
            </a:r>
          </a:p>
          <a:p>
            <a:endParaRPr lang="en-US" b="1" dirty="0">
              <a:latin typeface="Arial" panose="020B0604020202020204" pitchFamily="34" charset="0"/>
              <a:cs typeface="Arial" panose="020B0604020202020204" pitchFamily="34" charset="0"/>
            </a:endParaRPr>
          </a:p>
          <a:p>
            <a:endParaRPr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38" y="158649"/>
            <a:ext cx="6880375" cy="801951"/>
          </a:xfrm>
        </p:spPr>
        <p:txBody>
          <a:bodyPr/>
          <a:lstStyle/>
          <a:p>
            <a:r>
              <a:rPr dirty="0"/>
              <a:t>Exploratory Data Analysis (EDA)</a:t>
            </a:r>
          </a:p>
        </p:txBody>
      </p:sp>
      <p:sp>
        <p:nvSpPr>
          <p:cNvPr id="3" name="Content Placeholder 2"/>
          <p:cNvSpPr>
            <a:spLocks noGrp="1"/>
          </p:cNvSpPr>
          <p:nvPr>
            <p:ph idx="1"/>
          </p:nvPr>
        </p:nvSpPr>
        <p:spPr>
          <a:xfrm>
            <a:off x="174593" y="1284426"/>
            <a:ext cx="7016319" cy="4619224"/>
          </a:xfrm>
        </p:spPr>
        <p:txBody>
          <a:bodyPr>
            <a:normAutofit/>
          </a:bodyPr>
          <a:lstStyle/>
          <a:p>
            <a:r>
              <a:rPr dirty="0">
                <a:latin typeface="Arial" panose="020B0604020202020204" pitchFamily="34" charset="0"/>
                <a:cs typeface="Arial" panose="020B0604020202020204" pitchFamily="34" charset="0"/>
              </a:rPr>
              <a:t>Performed data visualization, checked missing values, analyzed distributions, and examined feature correlations to understand churn patterns.</a:t>
            </a:r>
            <a:endParaRPr lang="en-US" dirty="0">
              <a:latin typeface="Arial" panose="020B0604020202020204" pitchFamily="34" charset="0"/>
              <a:cs typeface="Arial" panose="020B0604020202020204" pitchFamily="34" charset="0"/>
            </a:endParaRPr>
          </a:p>
          <a:p>
            <a:pPr marL="800100" lvl="2" indent="0" defTabSz="914400" eaLnBrk="0" fontAlgn="base" hangingPunct="0">
              <a:spcBef>
                <a:spcPct val="0"/>
              </a:spcBef>
              <a:spcAft>
                <a:spcPct val="0"/>
              </a:spcAft>
              <a:buNone/>
            </a:pP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342900" lvl="0" indent="-342900">
              <a:lnSpc>
                <a:spcPct val="107000"/>
              </a:lnSpc>
              <a:buFont typeface="Symbol" panose="05050102010706020507" pitchFamily="18" charset="2"/>
              <a:buChar char=""/>
            </a:pPr>
            <a:r>
              <a:rPr lang="en-IN" sz="1800" dirty="0">
                <a:effectLst/>
                <a:latin typeface="Arial" panose="020B0604020202020204" pitchFamily="34" charset="0"/>
                <a:ea typeface="Calibri" panose="020F0502020204030204" pitchFamily="34" charset="0"/>
                <a:cs typeface="Times New Roman" panose="02020603050405020304" pitchFamily="18" charset="0"/>
              </a:rPr>
              <a:t>Loaded the dataset and provided a summary.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800" dirty="0">
                <a:effectLst/>
                <a:latin typeface="Arial" panose="020B0604020202020204" pitchFamily="34" charset="0"/>
                <a:ea typeface="Calibri" panose="020F0502020204030204" pitchFamily="34" charset="0"/>
                <a:cs typeface="Times New Roman" panose="02020603050405020304" pitchFamily="18" charset="0"/>
              </a:rPr>
              <a:t>Checked for missing values, data distribution, and outliers.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800" dirty="0">
                <a:effectLst/>
                <a:latin typeface="Arial" panose="020B0604020202020204" pitchFamily="34" charset="0"/>
                <a:ea typeface="Calibri" panose="020F0502020204030204" pitchFamily="34" charset="0"/>
                <a:cs typeface="Times New Roman" panose="02020603050405020304" pitchFamily="18" charset="0"/>
              </a:rPr>
              <a:t>Visualized relationships between key variables and power generated.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800" dirty="0">
                <a:effectLst/>
                <a:latin typeface="Arial" panose="020B0604020202020204" pitchFamily="34" charset="0"/>
                <a:ea typeface="Calibri" panose="020F0502020204030204" pitchFamily="34" charset="0"/>
                <a:cs typeface="Times New Roman" panose="02020603050405020304" pitchFamily="18" charset="0"/>
              </a:rPr>
              <a:t>Plotted a correlation matrix to identify high-impact features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800" dirty="0">
                <a:effectLst/>
                <a:latin typeface="Arial" panose="020B0604020202020204" pitchFamily="34" charset="0"/>
                <a:ea typeface="Calibri" panose="020F0502020204030204" pitchFamily="34" charset="0"/>
                <a:cs typeface="Times New Roman" panose="02020603050405020304" pitchFamily="18" charset="0"/>
              </a:rPr>
              <a:t>Observed that temperature and sky cover are strongly correlated with power output.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IN" sz="1800" dirty="0">
                <a:effectLst/>
                <a:latin typeface="Arial" panose="020B0604020202020204" pitchFamily="34" charset="0"/>
                <a:ea typeface="Calibri" panose="020F0502020204030204" pitchFamily="34" charset="0"/>
                <a:cs typeface="Times New Roman" panose="02020603050405020304" pitchFamily="18" charset="0"/>
              </a:rPr>
              <a:t>Detected a few outliers in wind-related variables and average pressure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C11F05-41D3-B710-0D61-6DF3DF4A3D18}"/>
              </a:ext>
            </a:extLst>
          </p:cNvPr>
          <p:cNvPicPr>
            <a:picLocks noChangeAspect="1"/>
          </p:cNvPicPr>
          <p:nvPr/>
        </p:nvPicPr>
        <p:blipFill>
          <a:blip r:embed="rId2"/>
          <a:srcRect/>
          <a:stretch/>
        </p:blipFill>
        <p:spPr>
          <a:xfrm>
            <a:off x="595902" y="1559545"/>
            <a:ext cx="7737775" cy="4254132"/>
          </a:xfrm>
          <a:prstGeom prst="rect">
            <a:avLst/>
          </a:prstGeom>
        </p:spPr>
      </p:pic>
      <p:sp>
        <p:nvSpPr>
          <p:cNvPr id="2" name="Rectangle 1">
            <a:extLst>
              <a:ext uri="{FF2B5EF4-FFF2-40B4-BE49-F238E27FC236}">
                <a16:creationId xmlns:a16="http://schemas.microsoft.com/office/drawing/2014/main" id="{C995E56A-C6FE-4193-B9B4-AAC1E34B2D89}"/>
              </a:ext>
            </a:extLst>
          </p:cNvPr>
          <p:cNvSpPr/>
          <p:nvPr/>
        </p:nvSpPr>
        <p:spPr>
          <a:xfrm>
            <a:off x="0" y="0"/>
            <a:ext cx="9155610" cy="118073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EB18AE19-765B-4695-B304-42632B8DF448}"/>
              </a:ext>
            </a:extLst>
          </p:cNvPr>
          <p:cNvSpPr txBox="1"/>
          <p:nvPr/>
        </p:nvSpPr>
        <p:spPr>
          <a:xfrm>
            <a:off x="0" y="0"/>
            <a:ext cx="9155610" cy="1200329"/>
          </a:xfrm>
          <a:prstGeom prst="rect">
            <a:avLst/>
          </a:prstGeom>
          <a:noFill/>
        </p:spPr>
        <p:txBody>
          <a:bodyPr wrap="square" rtlCol="0">
            <a:spAutoFit/>
          </a:bodyPr>
          <a:lstStyle/>
          <a:p>
            <a:pPr marL="0" indent="0" algn="ctr">
              <a:buNone/>
            </a:pPr>
            <a:r>
              <a:rPr lang="en-IN" sz="3600" dirty="0">
                <a:solidFill>
                  <a:schemeClr val="tx1"/>
                </a:solidFill>
                <a:latin typeface="Arial" panose="020B0604020202020204" pitchFamily="34" charset="0"/>
                <a:cs typeface="Arial" panose="020B0604020202020204" pitchFamily="34" charset="0"/>
              </a:rPr>
              <a:t> </a:t>
            </a:r>
            <a:r>
              <a:rPr lang="en-IN" sz="3600" b="1" dirty="0">
                <a:solidFill>
                  <a:schemeClr val="tx1"/>
                </a:solidFill>
                <a:latin typeface="Arial" panose="020B0604020202020204" pitchFamily="34" charset="0"/>
                <a:cs typeface="Arial" panose="020B0604020202020204" pitchFamily="34" charset="0"/>
              </a:rPr>
              <a:t>Visualization</a:t>
            </a:r>
            <a:r>
              <a:rPr lang="en-IN" sz="3600" dirty="0">
                <a:solidFill>
                  <a:schemeClr val="tx1"/>
                </a:solidFill>
                <a:latin typeface="Arial" panose="020B0604020202020204" pitchFamily="34" charset="0"/>
                <a:cs typeface="Arial" panose="020B0604020202020204" pitchFamily="34" charset="0"/>
              </a:rPr>
              <a:t> </a:t>
            </a:r>
          </a:p>
          <a:p>
            <a:pPr marL="0" indent="0" algn="ctr">
              <a:buNone/>
            </a:pPr>
            <a:endParaRPr lang="en-IN" dirty="0">
              <a:solidFill>
                <a:schemeClr val="tx1"/>
              </a:solidFill>
              <a:latin typeface="Arial" panose="020B0604020202020204" pitchFamily="34" charset="0"/>
              <a:cs typeface="Arial" panose="020B0604020202020204" pitchFamily="34" charset="0"/>
            </a:endParaRPr>
          </a:p>
          <a:p>
            <a:pPr marL="0" indent="0" algn="ctr">
              <a:buNone/>
            </a:pPr>
            <a:r>
              <a:rPr lang="en-IN" b="1" dirty="0">
                <a:solidFill>
                  <a:schemeClr val="tx1"/>
                </a:solidFill>
                <a:latin typeface="Arial" panose="020B0604020202020204" pitchFamily="34" charset="0"/>
                <a:cs typeface="Arial" panose="020B0604020202020204" pitchFamily="34" charset="0"/>
              </a:rPr>
              <a:t>Correlation Matrix(Heat map)</a:t>
            </a:r>
            <a:endParaRPr lang="en-IN" dirty="0"/>
          </a:p>
        </p:txBody>
      </p:sp>
      <p:sp>
        <p:nvSpPr>
          <p:cNvPr id="3" name="Rectangle 2">
            <a:extLst>
              <a:ext uri="{FF2B5EF4-FFF2-40B4-BE49-F238E27FC236}">
                <a16:creationId xmlns:a16="http://schemas.microsoft.com/office/drawing/2014/main" id="{5722E429-BF8E-4F2B-B90C-FF24927E8989}"/>
              </a:ext>
            </a:extLst>
          </p:cNvPr>
          <p:cNvSpPr/>
          <p:nvPr/>
        </p:nvSpPr>
        <p:spPr>
          <a:xfrm>
            <a:off x="11610" y="6234916"/>
            <a:ext cx="9144000" cy="6436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Fig 1: Correlation matrix shows relationships between variables.</a:t>
            </a:r>
            <a:endParaRPr lang="en-IN" sz="1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5171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47451B4E-C0C0-4ECE-A018-3A7A288ADA62}"/>
              </a:ext>
            </a:extLst>
          </p:cNvPr>
          <p:cNvSpPr>
            <a:spLocks noGrp="1" noChangeArrowheads="1"/>
          </p:cNvSpPr>
          <p:nvPr>
            <p:ph type="title"/>
          </p:nvPr>
        </p:nvSpPr>
        <p:spPr bwMode="auto">
          <a:xfrm>
            <a:off x="71021" y="1097857"/>
            <a:ext cx="7948196"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tabLst/>
            </a:pPr>
            <a:br>
              <a:rPr kumimoji="0" lang="en-US" alt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Distance-to-solar-noon has a moderate positive correlation with power-generated (as expected, since solar power peaks around noon).</a:t>
            </a:r>
            <a:b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b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sky-cover and humidity have negative correlations with power-generated, indicating cloudier, humid days reduce power generation.</a:t>
            </a:r>
            <a:b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b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wind-speed and average-wind-speed-(period) are correlated but not strongly linked to power generated</a:t>
            </a: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b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endPar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F5F2D83-3EA4-42D7-810D-628C2A15A008}"/>
              </a:ext>
            </a:extLst>
          </p:cNvPr>
          <p:cNvSpPr txBox="1"/>
          <p:nvPr/>
        </p:nvSpPr>
        <p:spPr>
          <a:xfrm>
            <a:off x="71021" y="78109"/>
            <a:ext cx="4838331" cy="646331"/>
          </a:xfrm>
          <a:prstGeom prst="rect">
            <a:avLst/>
          </a:prstGeom>
          <a:noFill/>
        </p:spPr>
        <p:txBody>
          <a:bodyPr wrap="square" rtlCol="0">
            <a:spAutoFit/>
          </a:bodyPr>
          <a:lstStyle/>
          <a:p>
            <a:r>
              <a:rPr kumimoji="0" lang="en-IN" sz="3600" b="1" i="0" u="none" strike="noStrike" kern="1200" cap="none" spc="0" normalizeH="0" baseline="0" noProof="0" dirty="0">
                <a:ln>
                  <a:noFill/>
                </a:ln>
                <a:solidFill>
                  <a:srgbClr val="90C226"/>
                </a:solidFill>
                <a:effectLst/>
                <a:uLnTx/>
                <a:uFillTx/>
                <a:latin typeface="Arial" panose="020B0604020202020204" pitchFamily="34" charset="0"/>
                <a:ea typeface="+mj-ea"/>
                <a:cs typeface="Arial" panose="020B0604020202020204" pitchFamily="34" charset="0"/>
              </a:rPr>
              <a:t>Correlation Analysis:</a:t>
            </a:r>
            <a:endParaRPr lang="en-IN" sz="3600" dirty="0"/>
          </a:p>
        </p:txBody>
      </p:sp>
    </p:spTree>
    <p:extLst>
      <p:ext uri="{BB962C8B-B14F-4D97-AF65-F5344CB8AC3E}">
        <p14:creationId xmlns:p14="http://schemas.microsoft.com/office/powerpoint/2010/main" val="1877915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DE2BA1B-0B86-4F15-8CA2-A28886D27863}"/>
              </a:ext>
            </a:extLst>
          </p:cNvPr>
          <p:cNvPicPr>
            <a:picLocks noChangeAspect="1"/>
          </p:cNvPicPr>
          <p:nvPr/>
        </p:nvPicPr>
        <p:blipFill>
          <a:blip r:embed="rId2"/>
          <a:stretch>
            <a:fillRect/>
          </a:stretch>
        </p:blipFill>
        <p:spPr>
          <a:xfrm>
            <a:off x="1345914" y="1125214"/>
            <a:ext cx="6760396" cy="4607571"/>
          </a:xfrm>
          <a:prstGeom prst="rect">
            <a:avLst/>
          </a:prstGeom>
          <a:ln>
            <a:solidFill>
              <a:schemeClr val="tx1"/>
            </a:solidFill>
          </a:ln>
        </p:spPr>
      </p:pic>
      <p:sp>
        <p:nvSpPr>
          <p:cNvPr id="2" name="Rectangle 1">
            <a:extLst>
              <a:ext uri="{FF2B5EF4-FFF2-40B4-BE49-F238E27FC236}">
                <a16:creationId xmlns:a16="http://schemas.microsoft.com/office/drawing/2014/main" id="{AE5347CD-C3AC-4E18-B7B3-C914BA1DBC25}"/>
              </a:ext>
            </a:extLst>
          </p:cNvPr>
          <p:cNvSpPr/>
          <p:nvPr/>
        </p:nvSpPr>
        <p:spPr>
          <a:xfrm>
            <a:off x="0" y="6262946"/>
            <a:ext cx="9144000" cy="6258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Fig 2: Boxplot indicates Outliers</a:t>
            </a:r>
            <a:endParaRPr lang="en-IN" sz="1400" dirty="0">
              <a:solidFill>
                <a:schemeClr val="tx1"/>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21007E65-1861-47FE-B02D-EBD29B5A6EB9}"/>
              </a:ext>
            </a:extLst>
          </p:cNvPr>
          <p:cNvSpPr/>
          <p:nvPr/>
        </p:nvSpPr>
        <p:spPr>
          <a:xfrm>
            <a:off x="-1" y="-20548"/>
            <a:ext cx="9144000" cy="72657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Boxplot</a:t>
            </a:r>
            <a:endParaRPr lang="en-IN"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9235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73B9308-9B35-4D78-83F1-0530ECFDFC02}"/>
              </a:ext>
            </a:extLst>
          </p:cNvPr>
          <p:cNvPicPr>
            <a:picLocks noChangeAspect="1"/>
          </p:cNvPicPr>
          <p:nvPr/>
        </p:nvPicPr>
        <p:blipFill>
          <a:blip r:embed="rId2"/>
          <a:stretch>
            <a:fillRect/>
          </a:stretch>
        </p:blipFill>
        <p:spPr>
          <a:xfrm>
            <a:off x="1068511" y="1069709"/>
            <a:ext cx="7140539" cy="4728007"/>
          </a:xfrm>
          <a:prstGeom prst="rect">
            <a:avLst/>
          </a:prstGeom>
        </p:spPr>
      </p:pic>
      <p:sp>
        <p:nvSpPr>
          <p:cNvPr id="3" name="Rectangle 2">
            <a:extLst>
              <a:ext uri="{FF2B5EF4-FFF2-40B4-BE49-F238E27FC236}">
                <a16:creationId xmlns:a16="http://schemas.microsoft.com/office/drawing/2014/main" id="{23727E4E-B7ED-43A3-BC02-7AFA25F23999}"/>
              </a:ext>
            </a:extLst>
          </p:cNvPr>
          <p:cNvSpPr/>
          <p:nvPr/>
        </p:nvSpPr>
        <p:spPr>
          <a:xfrm>
            <a:off x="0" y="6126490"/>
            <a:ext cx="9144000" cy="80342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Fig 3: Understanding of dependence b/w feature &amp; target variable.</a:t>
            </a:r>
            <a:endParaRPr lang="en-IN" sz="1400" dirty="0">
              <a:solidFill>
                <a:schemeClr val="tx1"/>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E2465A70-64CC-4528-9A9D-A82EBEE36F0D}"/>
              </a:ext>
            </a:extLst>
          </p:cNvPr>
          <p:cNvSpPr/>
          <p:nvPr/>
        </p:nvSpPr>
        <p:spPr>
          <a:xfrm>
            <a:off x="0" y="0"/>
            <a:ext cx="9144000" cy="80342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Scatter Plot</a:t>
            </a:r>
            <a:endParaRPr lang="en-IN"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6169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CACC6F-D76D-463A-9349-ECF1754C67FF}"/>
              </a:ext>
            </a:extLst>
          </p:cNvPr>
          <p:cNvPicPr>
            <a:picLocks noChangeAspect="1"/>
          </p:cNvPicPr>
          <p:nvPr/>
        </p:nvPicPr>
        <p:blipFill>
          <a:blip r:embed="rId2"/>
          <a:stretch>
            <a:fillRect/>
          </a:stretch>
        </p:blipFill>
        <p:spPr>
          <a:xfrm>
            <a:off x="1253447" y="1070018"/>
            <a:ext cx="6873411" cy="4717963"/>
          </a:xfrm>
          <a:prstGeom prst="rect">
            <a:avLst/>
          </a:prstGeom>
        </p:spPr>
      </p:pic>
      <p:sp>
        <p:nvSpPr>
          <p:cNvPr id="3" name="Rectangle 2">
            <a:extLst>
              <a:ext uri="{FF2B5EF4-FFF2-40B4-BE49-F238E27FC236}">
                <a16:creationId xmlns:a16="http://schemas.microsoft.com/office/drawing/2014/main" id="{7D0923CC-4B2B-4F00-8532-B4CF1EC57A5C}"/>
              </a:ext>
            </a:extLst>
          </p:cNvPr>
          <p:cNvSpPr/>
          <p:nvPr/>
        </p:nvSpPr>
        <p:spPr>
          <a:xfrm>
            <a:off x="0" y="6348432"/>
            <a:ext cx="9144000" cy="58148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Fig 4: It helps in knowing how data is distributed under each variable. </a:t>
            </a:r>
            <a:endParaRPr lang="en-IN" sz="1400" dirty="0">
              <a:solidFill>
                <a:schemeClr val="tx1"/>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48B77601-B1B1-44E6-B7E0-9AD9D10ED6AF}"/>
              </a:ext>
            </a:extLst>
          </p:cNvPr>
          <p:cNvSpPr/>
          <p:nvPr/>
        </p:nvSpPr>
        <p:spPr>
          <a:xfrm>
            <a:off x="0" y="0"/>
            <a:ext cx="9144000" cy="80342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Histograms</a:t>
            </a:r>
            <a:endParaRPr lang="en-IN"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8020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347713" cy="1320800"/>
          </a:xfrm>
        </p:spPr>
        <p:txBody>
          <a:bodyPr/>
          <a:lstStyle/>
          <a:p>
            <a:r>
              <a:rPr dirty="0">
                <a:latin typeface="Arial" panose="020B0604020202020204" pitchFamily="34" charset="0"/>
                <a:cs typeface="Arial" panose="020B0604020202020204" pitchFamily="34" charset="0"/>
              </a:rPr>
              <a:t>Feature Engineering</a:t>
            </a:r>
          </a:p>
        </p:txBody>
      </p:sp>
      <p:sp>
        <p:nvSpPr>
          <p:cNvPr id="3" name="Content Placeholder 2"/>
          <p:cNvSpPr>
            <a:spLocks noGrp="1"/>
          </p:cNvSpPr>
          <p:nvPr>
            <p:ph idx="1"/>
          </p:nvPr>
        </p:nvSpPr>
        <p:spPr>
          <a:xfrm>
            <a:off x="156453" y="1352722"/>
            <a:ext cx="6972316" cy="4852769"/>
          </a:xfrm>
        </p:spPr>
        <p:txBody>
          <a:bodyPr>
            <a:normAutofit/>
          </a:bodyPr>
          <a:lstStyle/>
          <a:p>
            <a:r>
              <a:rPr dirty="0">
                <a:solidFill>
                  <a:schemeClr val="tx1"/>
                </a:solidFill>
                <a:latin typeface="Arial" panose="020B0604020202020204" pitchFamily="34" charset="0"/>
                <a:cs typeface="Arial" panose="020B0604020202020204" pitchFamily="34" charset="0"/>
              </a:rPr>
              <a:t>Converted categorical variables, scaled numerical features, and selected important features for training the model.</a:t>
            </a:r>
            <a:endParaRPr lang="en-US" dirty="0">
              <a:solidFill>
                <a:schemeClr val="tx1"/>
              </a:solidFill>
              <a:latin typeface="Arial" panose="020B0604020202020204" pitchFamily="34" charset="0"/>
              <a:cs typeface="Arial" panose="020B0604020202020204" pitchFamily="34" charset="0"/>
            </a:endParaRPr>
          </a:p>
          <a:p>
            <a:pPr marL="0" indent="0">
              <a:buNone/>
            </a:pPr>
            <a:endParaRPr lang="en-IN" dirty="0">
              <a:solidFill>
                <a:schemeClr val="tx1"/>
              </a:solidFill>
              <a:latin typeface="Arial" panose="020B0604020202020204" pitchFamily="34" charset="0"/>
              <a:cs typeface="Arial" panose="020B0604020202020204" pitchFamily="34" charset="0"/>
            </a:endParaRPr>
          </a:p>
          <a:p>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Encoded categorical variables. </a:t>
            </a:r>
          </a:p>
          <a:p>
            <a:pPr marL="0" indent="0">
              <a:buNone/>
            </a:pP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lvl="2" indent="-342900" defTabSz="914400" eaLnBrk="0" fontAlgn="base" hangingPunct="0">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Standardized numerical features using </a:t>
            </a:r>
            <a:r>
              <a:rPr lang="en-US" altLang="en-US" sz="1800" dirty="0" err="1">
                <a:solidFill>
                  <a:schemeClr val="tx1"/>
                </a:solidFill>
                <a:latin typeface="Arial" panose="020B0604020202020204" pitchFamily="34" charset="0"/>
                <a:cs typeface="Arial" panose="020B0604020202020204" pitchFamily="34" charset="0"/>
              </a:rPr>
              <a:t>StandardScaler</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lvl="2" indent="-342900" defTabSz="914400" eaLnBrk="0" fontAlgn="base" hangingPunct="0">
              <a:spcBef>
                <a:spcPct val="0"/>
              </a:spcBef>
              <a:spcAft>
                <a:spcPct val="0"/>
              </a:spcAft>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Selected relevant features.</a:t>
            </a:r>
          </a:p>
          <a:p>
            <a:pPr lvl="2" indent="-342900" defTabSz="914400" eaLnBrk="0" fontAlgn="base" hangingPunct="0">
              <a:spcBef>
                <a:spcPct val="0"/>
              </a:spcBef>
              <a:spcAft>
                <a:spcPct val="0"/>
              </a:spcAft>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Renamed columns for consistency.</a:t>
            </a:r>
          </a:p>
        </p:txBody>
      </p:sp>
      <p:sp>
        <p:nvSpPr>
          <p:cNvPr id="5" name="Rectangle 2">
            <a:extLst>
              <a:ext uri="{FF2B5EF4-FFF2-40B4-BE49-F238E27FC236}">
                <a16:creationId xmlns:a16="http://schemas.microsoft.com/office/drawing/2014/main" id="{DAEFB56A-8CB8-C3E6-6A84-AA7EFF65A24F}"/>
              </a:ext>
            </a:extLst>
          </p:cNvPr>
          <p:cNvSpPr>
            <a:spLocks noChangeArrowheads="1"/>
          </p:cNvSpPr>
          <p:nvPr/>
        </p:nvSpPr>
        <p:spPr bwMode="auto">
          <a:xfrm>
            <a:off x="0" y="-184666"/>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347713" cy="704295"/>
          </a:xfrm>
        </p:spPr>
        <p:txBody>
          <a:bodyPr/>
          <a:lstStyle/>
          <a:p>
            <a:r>
              <a:rPr dirty="0">
                <a:latin typeface="Arial" panose="020B0604020202020204" pitchFamily="34" charset="0"/>
                <a:cs typeface="Arial" panose="020B0604020202020204" pitchFamily="34" charset="0"/>
              </a:rPr>
              <a:t>Model Building</a:t>
            </a:r>
          </a:p>
        </p:txBody>
      </p:sp>
      <p:sp>
        <p:nvSpPr>
          <p:cNvPr id="3" name="Content Placeholder 2"/>
          <p:cNvSpPr>
            <a:spLocks noGrp="1"/>
          </p:cNvSpPr>
          <p:nvPr>
            <p:ph idx="1"/>
          </p:nvPr>
        </p:nvSpPr>
        <p:spPr>
          <a:xfrm>
            <a:off x="369902" y="1198485"/>
            <a:ext cx="6998564" cy="5341042"/>
          </a:xfrm>
        </p:spPr>
        <p:txBody>
          <a:bodyPr>
            <a:normAutofit/>
          </a:bodyPr>
          <a:lstStyle/>
          <a:p>
            <a:r>
              <a:rPr dirty="0">
                <a:solidFill>
                  <a:schemeClr val="tx1"/>
                </a:solidFill>
                <a:latin typeface="Arial" panose="020B0604020202020204" pitchFamily="34" charset="0"/>
                <a:cs typeface="Arial" panose="020B0604020202020204" pitchFamily="34" charset="0"/>
              </a:rPr>
              <a:t>Tested multiple models (Logistic Regression, Random Forest, etc.), and selected the best model based on performance metrics.</a:t>
            </a:r>
            <a:endParaRPr lang="en-IN" dirty="0">
              <a:solidFill>
                <a:schemeClr val="tx1"/>
              </a:solidFill>
              <a:latin typeface="Arial" panose="020B0604020202020204" pitchFamily="34" charset="0"/>
              <a:cs typeface="Arial" panose="020B0604020202020204" pitchFamily="34" charset="0"/>
            </a:endParaRPr>
          </a:p>
          <a:p>
            <a:pPr marL="400050" lvl="1" indent="0" defTabSz="914400" eaLnBrk="0" fontAlgn="base" hangingPunct="0">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342900" lvl="0" indent="-342900">
              <a:lnSpc>
                <a:spcPct val="107000"/>
              </a:lnSpc>
              <a:buFont typeface="Symbol" panose="05050102010706020507" pitchFamily="18" charset="2"/>
              <a:buChar char=""/>
            </a:pPr>
            <a:r>
              <a:rPr lang="en-US" dirty="0">
                <a:solidFill>
                  <a:schemeClr val="tx1"/>
                </a:solidFill>
                <a:effectLst/>
                <a:latin typeface="Arial" panose="020B0604020202020204" pitchFamily="34" charset="0"/>
                <a:ea typeface="Calibri" panose="020F0502020204030204" pitchFamily="34" charset="0"/>
                <a:cs typeface="Arial" panose="020B0604020202020204" pitchFamily="34" charset="0"/>
              </a:rPr>
              <a:t>Trained multiple models (Logistic Regression, Random Forest, etc.).</a:t>
            </a:r>
            <a:endParaRPr lang="en-IN"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buFont typeface="Symbol" panose="05050102010706020507" pitchFamily="18" charset="2"/>
              <a:buChar char=""/>
            </a:pPr>
            <a:r>
              <a:rPr lang="en-US" dirty="0">
                <a:solidFill>
                  <a:schemeClr val="tx1"/>
                </a:solidFill>
                <a:effectLst/>
                <a:latin typeface="Arial" panose="020B0604020202020204" pitchFamily="34" charset="0"/>
                <a:ea typeface="Calibri" panose="020F0502020204030204" pitchFamily="34" charset="0"/>
                <a:cs typeface="Arial" panose="020B0604020202020204" pitchFamily="34" charset="0"/>
              </a:rPr>
              <a:t>Tuned hyperparameters and selected the best-performing model.</a:t>
            </a:r>
            <a:endParaRPr lang="en-IN"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Font typeface="Symbol" panose="05050102010706020507" pitchFamily="18" charset="2"/>
              <a:buChar char=""/>
            </a:pPr>
            <a:r>
              <a:rPr lang="en-US" dirty="0">
                <a:solidFill>
                  <a:schemeClr val="tx1"/>
                </a:solidFill>
                <a:effectLst/>
                <a:latin typeface="Arial" panose="020B0604020202020204" pitchFamily="34" charset="0"/>
                <a:ea typeface="Calibri" panose="020F0502020204030204" pitchFamily="34" charset="0"/>
                <a:cs typeface="Arial" panose="020B0604020202020204" pitchFamily="34" charset="0"/>
              </a:rPr>
              <a:t>Saved the final model as </a:t>
            </a:r>
            <a:r>
              <a:rPr lang="en-US" dirty="0" err="1">
                <a:solidFill>
                  <a:schemeClr val="tx1"/>
                </a:solidFill>
                <a:effectLst/>
                <a:latin typeface="Arial" panose="020B0604020202020204" pitchFamily="34" charset="0"/>
                <a:ea typeface="Calibri" panose="020F0502020204030204" pitchFamily="34" charset="0"/>
                <a:cs typeface="Arial" panose="020B0604020202020204" pitchFamily="34" charset="0"/>
              </a:rPr>
              <a:t>reg.pkl</a:t>
            </a:r>
            <a:r>
              <a:rPr lang="en-US" dirty="0">
                <a:solidFill>
                  <a:schemeClr val="tx1"/>
                </a:solidFill>
                <a:effectLst/>
                <a:latin typeface="Arial" panose="020B0604020202020204" pitchFamily="34" charset="0"/>
                <a:ea typeface="Calibri" panose="020F0502020204030204" pitchFamily="34" charset="0"/>
                <a:cs typeface="Arial" panose="020B0604020202020204" pitchFamily="34" charset="0"/>
              </a:rPr>
              <a:t> using pickle </a:t>
            </a:r>
            <a:endParaRPr lang="en-IN"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400050" lvl="1" indent="0" defTabSz="914400" eaLnBrk="0" fontAlgn="base" hangingPunct="0">
              <a:spcBef>
                <a:spcPct val="0"/>
              </a:spcBef>
              <a:spcAft>
                <a:spcPct val="0"/>
              </a:spcAft>
              <a:buNone/>
            </a:pPr>
            <a:endParaRPr kumimoji="0" lang="en-US" altLang="en-US" sz="2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D40BA-BC12-003D-5495-F8CF8C594979}"/>
              </a:ext>
            </a:extLst>
          </p:cNvPr>
          <p:cNvSpPr>
            <a:spLocks noGrp="1"/>
          </p:cNvSpPr>
          <p:nvPr>
            <p:ph type="title"/>
          </p:nvPr>
        </p:nvSpPr>
        <p:spPr>
          <a:xfrm>
            <a:off x="0" y="0"/>
            <a:ext cx="8229600" cy="622984"/>
          </a:xfrm>
        </p:spPr>
        <p:txBody>
          <a:bodyPr>
            <a:normAutofit fontScale="90000"/>
          </a:bodyPr>
          <a:lstStyle/>
          <a:p>
            <a:r>
              <a:rPr lang="en-IN" dirty="0">
                <a:latin typeface="Arial" panose="020B0604020202020204" pitchFamily="34" charset="0"/>
                <a:cs typeface="Arial" panose="020B0604020202020204" pitchFamily="34" charset="0"/>
              </a:rPr>
              <a:t>Model Selection</a:t>
            </a:r>
          </a:p>
        </p:txBody>
      </p:sp>
      <p:sp>
        <p:nvSpPr>
          <p:cNvPr id="9" name="Rectangle 8">
            <a:extLst>
              <a:ext uri="{FF2B5EF4-FFF2-40B4-BE49-F238E27FC236}">
                <a16:creationId xmlns:a16="http://schemas.microsoft.com/office/drawing/2014/main" id="{B04BD044-83AD-426A-B329-18AB937EFDE9}"/>
              </a:ext>
            </a:extLst>
          </p:cNvPr>
          <p:cNvSpPr/>
          <p:nvPr/>
        </p:nvSpPr>
        <p:spPr>
          <a:xfrm>
            <a:off x="0" y="6276513"/>
            <a:ext cx="9144000" cy="58148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Fig 5: Model comparison to find better model based on performance </a:t>
            </a:r>
            <a:endParaRPr lang="en-IN" sz="1400" dirty="0">
              <a:solidFill>
                <a:schemeClr val="tx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26CFAD1A-6225-4EEA-BDA9-BE61FD1B83DC}"/>
              </a:ext>
            </a:extLst>
          </p:cNvPr>
          <p:cNvPicPr>
            <a:picLocks noChangeAspect="1"/>
          </p:cNvPicPr>
          <p:nvPr/>
        </p:nvPicPr>
        <p:blipFill>
          <a:blip r:embed="rId2"/>
          <a:stretch>
            <a:fillRect/>
          </a:stretch>
        </p:blipFill>
        <p:spPr>
          <a:xfrm>
            <a:off x="1912565" y="2464140"/>
            <a:ext cx="3886742" cy="743054"/>
          </a:xfrm>
          <a:prstGeom prst="rect">
            <a:avLst/>
          </a:prstGeom>
        </p:spPr>
      </p:pic>
      <p:pic>
        <p:nvPicPr>
          <p:cNvPr id="11" name="Picture 10">
            <a:extLst>
              <a:ext uri="{FF2B5EF4-FFF2-40B4-BE49-F238E27FC236}">
                <a16:creationId xmlns:a16="http://schemas.microsoft.com/office/drawing/2014/main" id="{31AF48B0-0454-46E8-81AE-6C446C3192BD}"/>
              </a:ext>
            </a:extLst>
          </p:cNvPr>
          <p:cNvPicPr>
            <a:picLocks noChangeAspect="1"/>
          </p:cNvPicPr>
          <p:nvPr/>
        </p:nvPicPr>
        <p:blipFill>
          <a:blip r:embed="rId3"/>
          <a:stretch>
            <a:fillRect/>
          </a:stretch>
        </p:blipFill>
        <p:spPr>
          <a:xfrm>
            <a:off x="1954157" y="4776480"/>
            <a:ext cx="3872712" cy="762106"/>
          </a:xfrm>
          <a:prstGeom prst="rect">
            <a:avLst/>
          </a:prstGeom>
        </p:spPr>
      </p:pic>
      <p:sp>
        <p:nvSpPr>
          <p:cNvPr id="18" name="Content Placeholder 2">
            <a:extLst>
              <a:ext uri="{FF2B5EF4-FFF2-40B4-BE49-F238E27FC236}">
                <a16:creationId xmlns:a16="http://schemas.microsoft.com/office/drawing/2014/main" id="{FEDD26EA-63F9-4CF7-98A8-50F5EF7F7962}"/>
              </a:ext>
            </a:extLst>
          </p:cNvPr>
          <p:cNvSpPr>
            <a:spLocks noGrp="1"/>
          </p:cNvSpPr>
          <p:nvPr>
            <p:ph idx="1"/>
          </p:nvPr>
        </p:nvSpPr>
        <p:spPr>
          <a:xfrm>
            <a:off x="496302" y="3498751"/>
            <a:ext cx="6719268" cy="2642277"/>
          </a:xfrm>
        </p:spPr>
        <p:txBody>
          <a:bodyPr>
            <a:normAutofit/>
          </a:bodyPr>
          <a:lstStyle/>
          <a:p>
            <a:pPr marL="0" indent="0">
              <a:buNone/>
            </a:pPr>
            <a:r>
              <a:rPr lang="en-US" altLang="en-US" dirty="0">
                <a:solidFill>
                  <a:schemeClr val="tx1"/>
                </a:solidFill>
                <a:latin typeface="Times New Roman" panose="02020603050405020304" pitchFamily="18" charset="0"/>
                <a:cs typeface="Times New Roman" panose="02020603050405020304" pitchFamily="18" charset="0"/>
              </a:rPr>
              <a:t>Linear Regression is a statistical method used to model the relationship between a dependent variable and one or more independent variables by fitting a straight line through the data points. The line predicts the output based on input values.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IN" dirty="0">
              <a:latin typeface="Arial" panose="020B0604020202020204" pitchFamily="34" charset="0"/>
              <a:cs typeface="Arial" panose="020B0604020202020204" pitchFamily="34" charset="0"/>
            </a:endParaRPr>
          </a:p>
          <a:p>
            <a:endParaRPr dirty="0">
              <a:latin typeface="Arial" panose="020B0604020202020204" pitchFamily="34" charset="0"/>
              <a:cs typeface="Arial" panose="020B0604020202020204" pitchFamily="34" charset="0"/>
            </a:endParaRPr>
          </a:p>
        </p:txBody>
      </p:sp>
      <p:sp>
        <p:nvSpPr>
          <p:cNvPr id="22" name="Content Placeholder 2">
            <a:extLst>
              <a:ext uri="{FF2B5EF4-FFF2-40B4-BE49-F238E27FC236}">
                <a16:creationId xmlns:a16="http://schemas.microsoft.com/office/drawing/2014/main" id="{9CE6D44B-821D-44A1-83A3-A68F74DBADB3}"/>
              </a:ext>
            </a:extLst>
          </p:cNvPr>
          <p:cNvSpPr txBox="1">
            <a:spLocks/>
          </p:cNvSpPr>
          <p:nvPr/>
        </p:nvSpPr>
        <p:spPr>
          <a:xfrm>
            <a:off x="530879" y="1030786"/>
            <a:ext cx="6719268" cy="264227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altLang="en-US">
                <a:solidFill>
                  <a:schemeClr val="tx1"/>
                </a:solidFill>
                <a:latin typeface="Times New Roman" panose="02020603050405020304" pitchFamily="18" charset="0"/>
                <a:cs typeface="Times New Roman" panose="02020603050405020304" pitchFamily="18" charset="0"/>
              </a:rPr>
              <a:t>Random Forest is an ensemble machine learning algorithm that builds multiple decision trees and combines their outputs to improve accuracy and reduce overfitting. It’s used for both classification and regression tasks.</a:t>
            </a:r>
          </a:p>
          <a:p>
            <a:endParaRPr lang="en-US">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0891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D40BA-BC12-003D-5495-F8CF8C594979}"/>
              </a:ext>
            </a:extLst>
          </p:cNvPr>
          <p:cNvSpPr>
            <a:spLocks noGrp="1"/>
          </p:cNvSpPr>
          <p:nvPr>
            <p:ph type="title"/>
          </p:nvPr>
        </p:nvSpPr>
        <p:spPr>
          <a:xfrm>
            <a:off x="0" y="0"/>
            <a:ext cx="8229600" cy="622984"/>
          </a:xfrm>
        </p:spPr>
        <p:txBody>
          <a:bodyPr>
            <a:normAutofit fontScale="90000"/>
          </a:bodyPr>
          <a:lstStyle/>
          <a:p>
            <a:r>
              <a:rPr lang="en-IN" dirty="0">
                <a:latin typeface="Arial" panose="020B0604020202020204" pitchFamily="34" charset="0"/>
                <a:cs typeface="Arial" panose="020B0604020202020204" pitchFamily="34" charset="0"/>
              </a:rPr>
              <a:t>Model Selection</a:t>
            </a:r>
          </a:p>
        </p:txBody>
      </p:sp>
      <p:sp>
        <p:nvSpPr>
          <p:cNvPr id="9" name="Rectangle 8">
            <a:extLst>
              <a:ext uri="{FF2B5EF4-FFF2-40B4-BE49-F238E27FC236}">
                <a16:creationId xmlns:a16="http://schemas.microsoft.com/office/drawing/2014/main" id="{B04BD044-83AD-426A-B329-18AB937EFDE9}"/>
              </a:ext>
            </a:extLst>
          </p:cNvPr>
          <p:cNvSpPr/>
          <p:nvPr/>
        </p:nvSpPr>
        <p:spPr>
          <a:xfrm>
            <a:off x="0" y="6276513"/>
            <a:ext cx="9144000" cy="58148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Fig 5: Model comparison to find better model based on performance </a:t>
            </a:r>
            <a:endParaRPr lang="en-IN" sz="1400" dirty="0">
              <a:solidFill>
                <a:schemeClr val="tx1"/>
              </a:solidFill>
              <a:latin typeface="Arial" panose="020B0604020202020204" pitchFamily="34" charset="0"/>
              <a:cs typeface="Arial" panose="020B0604020202020204" pitchFamily="34" charset="0"/>
            </a:endParaRPr>
          </a:p>
        </p:txBody>
      </p:sp>
      <p:sp>
        <p:nvSpPr>
          <p:cNvPr id="22" name="Content Placeholder 2">
            <a:extLst>
              <a:ext uri="{FF2B5EF4-FFF2-40B4-BE49-F238E27FC236}">
                <a16:creationId xmlns:a16="http://schemas.microsoft.com/office/drawing/2014/main" id="{9CE6D44B-821D-44A1-83A3-A68F74DBADB3}"/>
              </a:ext>
            </a:extLst>
          </p:cNvPr>
          <p:cNvSpPr txBox="1">
            <a:spLocks/>
          </p:cNvSpPr>
          <p:nvPr/>
        </p:nvSpPr>
        <p:spPr>
          <a:xfrm>
            <a:off x="530879" y="1030786"/>
            <a:ext cx="6719268" cy="264227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altLang="en-US" dirty="0">
                <a:solidFill>
                  <a:schemeClr val="tx1"/>
                </a:solidFill>
                <a:latin typeface="Times New Roman" panose="02020603050405020304" pitchFamily="18" charset="0"/>
                <a:cs typeface="Times New Roman" panose="02020603050405020304" pitchFamily="18" charset="0"/>
              </a:rPr>
              <a:t> K-Nearest Neighbors (KNN) is a simple, non-parametric algorithm used for classification and regression. It works by finding the K closest data points to a new input and predicting the output based on the majority or average of those neighbors.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544C18C6-5BAA-41AB-A705-FE57A240D9CF}"/>
              </a:ext>
            </a:extLst>
          </p:cNvPr>
          <p:cNvPicPr>
            <a:picLocks noChangeAspect="1"/>
          </p:cNvPicPr>
          <p:nvPr/>
        </p:nvPicPr>
        <p:blipFill>
          <a:blip r:embed="rId2"/>
          <a:stretch>
            <a:fillRect/>
          </a:stretch>
        </p:blipFill>
        <p:spPr>
          <a:xfrm>
            <a:off x="1530849" y="2566262"/>
            <a:ext cx="3870184" cy="862738"/>
          </a:xfrm>
          <a:prstGeom prst="rect">
            <a:avLst/>
          </a:prstGeom>
        </p:spPr>
      </p:pic>
    </p:spTree>
    <p:extLst>
      <p:ext uri="{BB962C8B-B14F-4D97-AF65-F5344CB8AC3E}">
        <p14:creationId xmlns:p14="http://schemas.microsoft.com/office/powerpoint/2010/main" val="2756106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340"/>
            <a:ext cx="6347713" cy="1320800"/>
          </a:xfrm>
        </p:spPr>
        <p:txBody>
          <a:bodyPr/>
          <a:lstStyle/>
          <a:p>
            <a:r>
              <a:rPr dirty="0"/>
              <a:t>Model Evaluation</a:t>
            </a:r>
          </a:p>
        </p:txBody>
      </p:sp>
      <p:sp>
        <p:nvSpPr>
          <p:cNvPr id="3" name="Content Placeholder 2"/>
          <p:cNvSpPr>
            <a:spLocks noGrp="1"/>
          </p:cNvSpPr>
          <p:nvPr>
            <p:ph idx="1"/>
          </p:nvPr>
        </p:nvSpPr>
        <p:spPr>
          <a:xfrm>
            <a:off x="0" y="863029"/>
            <a:ext cx="7695344" cy="4869951"/>
          </a:xfrm>
        </p:spPr>
        <p:txBody>
          <a:bodyPr>
            <a:normAutofit/>
          </a:bodyPr>
          <a:lstStyle/>
          <a:p>
            <a:r>
              <a:rPr dirty="0">
                <a:solidFill>
                  <a:schemeClr val="tx1"/>
                </a:solidFill>
              </a:rPr>
              <a:t>Evaluated models using </a:t>
            </a:r>
            <a:r>
              <a:rPr lang="en-IN" dirty="0">
                <a:solidFill>
                  <a:schemeClr val="tx1"/>
                </a:solidFill>
              </a:rPr>
              <a:t>RMSE(root mean squared error) and MAE(Mean Absolute Error) and r2 score</a:t>
            </a:r>
          </a:p>
          <a:p>
            <a:endParaRPr dirty="0"/>
          </a:p>
        </p:txBody>
      </p:sp>
      <p:pic>
        <p:nvPicPr>
          <p:cNvPr id="6" name="Picture 5">
            <a:extLst>
              <a:ext uri="{FF2B5EF4-FFF2-40B4-BE49-F238E27FC236}">
                <a16:creationId xmlns:a16="http://schemas.microsoft.com/office/drawing/2014/main" id="{87D51167-192D-134D-040E-784029040B8A}"/>
              </a:ext>
            </a:extLst>
          </p:cNvPr>
          <p:cNvPicPr>
            <a:picLocks noChangeAspect="1"/>
          </p:cNvPicPr>
          <p:nvPr/>
        </p:nvPicPr>
        <p:blipFill>
          <a:blip r:embed="rId2"/>
          <a:stretch>
            <a:fillRect/>
          </a:stretch>
        </p:blipFill>
        <p:spPr>
          <a:xfrm>
            <a:off x="673815" y="1925548"/>
            <a:ext cx="6347713" cy="3807432"/>
          </a:xfrm>
          <a:prstGeom prst="rect">
            <a:avLst/>
          </a:prstGeom>
        </p:spPr>
      </p:pic>
      <p:sp>
        <p:nvSpPr>
          <p:cNvPr id="4" name="Rectangle 3">
            <a:extLst>
              <a:ext uri="{FF2B5EF4-FFF2-40B4-BE49-F238E27FC236}">
                <a16:creationId xmlns:a16="http://schemas.microsoft.com/office/drawing/2014/main" id="{810F6443-303A-4229-A710-1B84073A08D0}"/>
              </a:ext>
            </a:extLst>
          </p:cNvPr>
          <p:cNvSpPr/>
          <p:nvPr/>
        </p:nvSpPr>
        <p:spPr>
          <a:xfrm>
            <a:off x="0" y="6242030"/>
            <a:ext cx="9144000" cy="6712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Fig 6: Comparison between actual &amp; prediction of power generation.</a:t>
            </a:r>
            <a:endParaRPr lang="en-IN" sz="1400" dirty="0">
              <a:solidFill>
                <a:schemeClr val="tx1"/>
              </a:solidFill>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17"/>
            <a:ext cx="6347713" cy="1320800"/>
          </a:xfrm>
        </p:spPr>
        <p:txBody>
          <a:bodyPr/>
          <a:lstStyle/>
          <a:p>
            <a:r>
              <a:rPr b="1" dirty="0">
                <a:latin typeface="Arial" panose="020B0604020202020204" pitchFamily="34" charset="0"/>
                <a:cs typeface="Arial" panose="020B0604020202020204" pitchFamily="34" charset="0"/>
              </a:rPr>
              <a:t>Model Deployment</a:t>
            </a:r>
          </a:p>
        </p:txBody>
      </p:sp>
      <p:sp>
        <p:nvSpPr>
          <p:cNvPr id="3" name="Content Placeholder 2"/>
          <p:cNvSpPr>
            <a:spLocks noGrp="1"/>
          </p:cNvSpPr>
          <p:nvPr>
            <p:ph idx="1"/>
          </p:nvPr>
        </p:nvSpPr>
        <p:spPr>
          <a:xfrm>
            <a:off x="84238" y="1344419"/>
            <a:ext cx="7248717" cy="4708525"/>
          </a:xfrm>
        </p:spPr>
        <p:txBody>
          <a:bodyPr>
            <a:normAutofit/>
          </a:bodyPr>
          <a:lstStyle/>
          <a:p>
            <a:pPr marL="92075" indent="-92075" algn="just"/>
            <a:r>
              <a:rPr dirty="0">
                <a:solidFill>
                  <a:schemeClr val="tx1"/>
                </a:solidFill>
                <a:latin typeface="Arial" panose="020B0604020202020204" pitchFamily="34" charset="0"/>
                <a:cs typeface="Arial" panose="020B0604020202020204" pitchFamily="34" charset="0"/>
              </a:rPr>
              <a:t>Developed</a:t>
            </a:r>
            <a:r>
              <a:rPr lang="en-US" dirty="0">
                <a:solidFill>
                  <a:schemeClr val="tx1"/>
                </a:solidFill>
                <a:latin typeface="Arial" panose="020B0604020202020204" pitchFamily="34" charset="0"/>
                <a:cs typeface="Arial" panose="020B0604020202020204" pitchFamily="34" charset="0"/>
              </a:rPr>
              <a:t> </a:t>
            </a:r>
            <a:r>
              <a:rPr dirty="0">
                <a:solidFill>
                  <a:schemeClr val="tx1"/>
                </a:solidFill>
                <a:latin typeface="Arial" panose="020B0604020202020204" pitchFamily="34" charset="0"/>
                <a:cs typeface="Arial" panose="020B0604020202020204" pitchFamily="34" charset="0"/>
              </a:rPr>
              <a:t>an</a:t>
            </a:r>
            <a:r>
              <a:rPr lang="en-US" dirty="0">
                <a:solidFill>
                  <a:schemeClr val="tx1"/>
                </a:solidFill>
                <a:latin typeface="Arial" panose="020B0604020202020204" pitchFamily="34" charset="0"/>
                <a:cs typeface="Arial" panose="020B0604020202020204" pitchFamily="34" charset="0"/>
              </a:rPr>
              <a:t> </a:t>
            </a:r>
            <a:r>
              <a:rPr dirty="0">
                <a:solidFill>
                  <a:schemeClr val="tx1"/>
                </a:solidFill>
                <a:latin typeface="Arial" panose="020B0604020202020204" pitchFamily="34" charset="0"/>
                <a:cs typeface="Arial" panose="020B0604020202020204" pitchFamily="34" charset="0"/>
              </a:rPr>
              <a:t>interactive Streamlit app allowing users to input details and predict </a:t>
            </a:r>
            <a:r>
              <a:rPr lang="en-IN" dirty="0">
                <a:solidFill>
                  <a:schemeClr val="tx1"/>
                </a:solidFill>
                <a:latin typeface="Arial" panose="020B0604020202020204" pitchFamily="34" charset="0"/>
                <a:cs typeface="Arial" panose="020B0604020202020204" pitchFamily="34" charset="0"/>
              </a:rPr>
              <a:t>solar prediction </a:t>
            </a:r>
            <a:r>
              <a:rPr dirty="0">
                <a:solidFill>
                  <a:schemeClr val="tx1"/>
                </a:solidFill>
                <a:latin typeface="Arial" panose="020B0604020202020204" pitchFamily="34" charset="0"/>
                <a:cs typeface="Arial" panose="020B0604020202020204" pitchFamily="34" charset="0"/>
              </a:rPr>
              <a:t>probability.</a:t>
            </a:r>
            <a:endParaRPr lang="en-US" dirty="0">
              <a:solidFill>
                <a:schemeClr val="tx1"/>
              </a:solidFill>
              <a:latin typeface="Arial" panose="020B0604020202020204" pitchFamily="34" charset="0"/>
              <a:cs typeface="Arial" panose="020B0604020202020204" pitchFamily="34" charset="0"/>
            </a:endParaRPr>
          </a:p>
          <a:p>
            <a:pPr marL="0" indent="0" algn="just">
              <a:buNone/>
            </a:pPr>
            <a:endParaRPr lang="en-IN" dirty="0">
              <a:solidFill>
                <a:schemeClr val="tx1"/>
              </a:solidFill>
              <a:latin typeface="Arial" panose="020B0604020202020204" pitchFamily="34" charset="0"/>
              <a:cs typeface="Arial" panose="020B0604020202020204" pitchFamily="34" charset="0"/>
            </a:endParaRPr>
          </a:p>
          <a:p>
            <a:pPr marL="92075" indent="-92075" algn="just">
              <a:tabLst>
                <a:tab pos="7539038" algn="l"/>
              </a:tabLst>
            </a:pPr>
            <a:r>
              <a:rPr lang="en-US" dirty="0">
                <a:solidFill>
                  <a:schemeClr val="tx1"/>
                </a:solidFill>
                <a:latin typeface="Arial" panose="020B0604020202020204" pitchFamily="34" charset="0"/>
                <a:cs typeface="Arial" panose="020B0604020202020204" pitchFamily="34" charset="0"/>
              </a:rPr>
              <a:t>Built an interactive UI for solar power prediction.</a:t>
            </a:r>
          </a:p>
          <a:p>
            <a:pPr marL="0" indent="0" algn="just">
              <a:buNone/>
              <a:tabLst>
                <a:tab pos="7539038" algn="l"/>
              </a:tabLst>
            </a:pPr>
            <a:endParaRPr lang="en-US" dirty="0">
              <a:solidFill>
                <a:schemeClr val="tx1"/>
              </a:solidFill>
              <a:latin typeface="Arial" panose="020B0604020202020204" pitchFamily="34" charset="0"/>
              <a:cs typeface="Arial" panose="020B0604020202020204" pitchFamily="34" charset="0"/>
            </a:endParaRPr>
          </a:p>
          <a:p>
            <a:pPr marL="92075" indent="-92075" algn="just" defTabSz="355600">
              <a:tabLst>
                <a:tab pos="355600" algn="l"/>
                <a:tab pos="985838" algn="l"/>
              </a:tabLst>
            </a:pPr>
            <a:r>
              <a:rPr lang="en-US" dirty="0">
                <a:solidFill>
                  <a:schemeClr val="tx1"/>
                </a:solidFill>
                <a:latin typeface="Arial" panose="020B0604020202020204" pitchFamily="34" charset="0"/>
                <a:cs typeface="Arial" panose="020B0604020202020204" pitchFamily="34" charset="0"/>
              </a:rPr>
              <a:t>Allowed users to input details and Deployed an app using stream lit community cloud with GitHub.</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5FD09C-8632-F615-A140-2FF372CBD88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9747AE1-ECE6-3120-F6E4-998C057F16D3}"/>
              </a:ext>
            </a:extLst>
          </p:cNvPr>
          <p:cNvPicPr>
            <a:picLocks noChangeAspect="1"/>
          </p:cNvPicPr>
          <p:nvPr/>
        </p:nvPicPr>
        <p:blipFill>
          <a:blip r:embed="rId2"/>
          <a:stretch>
            <a:fillRect/>
          </a:stretch>
        </p:blipFill>
        <p:spPr>
          <a:xfrm>
            <a:off x="433341" y="1843901"/>
            <a:ext cx="7884410" cy="3725384"/>
          </a:xfrm>
          <a:prstGeom prst="rect">
            <a:avLst/>
          </a:prstGeom>
        </p:spPr>
      </p:pic>
      <p:sp>
        <p:nvSpPr>
          <p:cNvPr id="6" name="Rectangle 5">
            <a:extLst>
              <a:ext uri="{FF2B5EF4-FFF2-40B4-BE49-F238E27FC236}">
                <a16:creationId xmlns:a16="http://schemas.microsoft.com/office/drawing/2014/main" id="{31B1E14A-BF55-42D6-81EA-6C3FCEB945AC}"/>
              </a:ext>
            </a:extLst>
          </p:cNvPr>
          <p:cNvSpPr/>
          <p:nvPr/>
        </p:nvSpPr>
        <p:spPr>
          <a:xfrm>
            <a:off x="0" y="6276513"/>
            <a:ext cx="9144000" cy="58148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Fig 7: View of deployment in GitHub</a:t>
            </a:r>
            <a:endParaRPr lang="en-IN" sz="1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8468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C985D9-1AAB-857F-9B39-C83416338AA0}"/>
              </a:ext>
            </a:extLst>
          </p:cNvPr>
          <p:cNvPicPr>
            <a:picLocks noChangeAspect="1"/>
          </p:cNvPicPr>
          <p:nvPr/>
        </p:nvPicPr>
        <p:blipFill>
          <a:blip r:embed="rId2"/>
          <a:stretch>
            <a:fillRect/>
          </a:stretch>
        </p:blipFill>
        <p:spPr>
          <a:xfrm>
            <a:off x="959337" y="539961"/>
            <a:ext cx="5559106" cy="5346564"/>
          </a:xfrm>
          <a:prstGeom prst="rect">
            <a:avLst/>
          </a:prstGeom>
        </p:spPr>
      </p:pic>
      <p:sp>
        <p:nvSpPr>
          <p:cNvPr id="5" name="Rectangle 4">
            <a:extLst>
              <a:ext uri="{FF2B5EF4-FFF2-40B4-BE49-F238E27FC236}">
                <a16:creationId xmlns:a16="http://schemas.microsoft.com/office/drawing/2014/main" id="{1C423E7E-786F-4CF1-9DF6-1D1396DBEB18}"/>
              </a:ext>
            </a:extLst>
          </p:cNvPr>
          <p:cNvSpPr/>
          <p:nvPr/>
        </p:nvSpPr>
        <p:spPr>
          <a:xfrm>
            <a:off x="0" y="6276513"/>
            <a:ext cx="9144000" cy="58148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Fig 8: Power prediction with zero units</a:t>
            </a:r>
            <a:endParaRPr lang="en-IN" sz="1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5382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AC4834-4A8A-D69F-EE3B-45F13E306122}"/>
              </a:ext>
            </a:extLst>
          </p:cNvPr>
          <p:cNvPicPr>
            <a:picLocks noChangeAspect="1"/>
          </p:cNvPicPr>
          <p:nvPr/>
        </p:nvPicPr>
        <p:blipFill>
          <a:blip r:embed="rId2"/>
          <a:stretch>
            <a:fillRect/>
          </a:stretch>
        </p:blipFill>
        <p:spPr>
          <a:xfrm>
            <a:off x="613482" y="390216"/>
            <a:ext cx="5838689" cy="5354294"/>
          </a:xfrm>
          <a:prstGeom prst="rect">
            <a:avLst/>
          </a:prstGeom>
        </p:spPr>
      </p:pic>
      <p:sp>
        <p:nvSpPr>
          <p:cNvPr id="4" name="Rectangle 3">
            <a:extLst>
              <a:ext uri="{FF2B5EF4-FFF2-40B4-BE49-F238E27FC236}">
                <a16:creationId xmlns:a16="http://schemas.microsoft.com/office/drawing/2014/main" id="{9BE3228D-A0CD-40A2-BDB1-3096C1A69277}"/>
              </a:ext>
            </a:extLst>
          </p:cNvPr>
          <p:cNvSpPr/>
          <p:nvPr/>
        </p:nvSpPr>
        <p:spPr>
          <a:xfrm>
            <a:off x="0" y="6276513"/>
            <a:ext cx="9144000" cy="58148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Fig 9: Power prediction with zero units</a:t>
            </a:r>
            <a:endParaRPr lang="en-IN" sz="1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29516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BAA789-9075-B907-1338-9E55151BCC0E}"/>
              </a:ext>
            </a:extLst>
          </p:cNvPr>
          <p:cNvPicPr>
            <a:picLocks noChangeAspect="1"/>
          </p:cNvPicPr>
          <p:nvPr/>
        </p:nvPicPr>
        <p:blipFill>
          <a:blip r:embed="rId2"/>
          <a:stretch>
            <a:fillRect/>
          </a:stretch>
        </p:blipFill>
        <p:spPr>
          <a:xfrm>
            <a:off x="1058237" y="253372"/>
            <a:ext cx="5545763" cy="5732238"/>
          </a:xfrm>
          <a:prstGeom prst="rect">
            <a:avLst/>
          </a:prstGeom>
        </p:spPr>
      </p:pic>
      <p:sp>
        <p:nvSpPr>
          <p:cNvPr id="7" name="Rectangle 6">
            <a:extLst>
              <a:ext uri="{FF2B5EF4-FFF2-40B4-BE49-F238E27FC236}">
                <a16:creationId xmlns:a16="http://schemas.microsoft.com/office/drawing/2014/main" id="{17C8E24C-D20C-4A2B-81F6-76C2B9E6F2CC}"/>
              </a:ext>
            </a:extLst>
          </p:cNvPr>
          <p:cNvSpPr/>
          <p:nvPr/>
        </p:nvSpPr>
        <p:spPr>
          <a:xfrm>
            <a:off x="0" y="6276513"/>
            <a:ext cx="9144000" cy="58148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Fig 10: Power prediction with  units</a:t>
            </a:r>
            <a:endParaRPr lang="en-IN" sz="1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3950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60AA5FA-2ACA-7647-CDCE-09E1EF2A9927}"/>
              </a:ext>
            </a:extLst>
          </p:cNvPr>
          <p:cNvPicPr>
            <a:picLocks noChangeAspect="1"/>
          </p:cNvPicPr>
          <p:nvPr/>
        </p:nvPicPr>
        <p:blipFill>
          <a:blip r:embed="rId2"/>
          <a:stretch>
            <a:fillRect/>
          </a:stretch>
        </p:blipFill>
        <p:spPr>
          <a:xfrm>
            <a:off x="975259" y="297949"/>
            <a:ext cx="5499972" cy="5813461"/>
          </a:xfrm>
          <a:prstGeom prst="rect">
            <a:avLst/>
          </a:prstGeom>
        </p:spPr>
      </p:pic>
      <p:sp>
        <p:nvSpPr>
          <p:cNvPr id="3" name="Rectangle 2">
            <a:extLst>
              <a:ext uri="{FF2B5EF4-FFF2-40B4-BE49-F238E27FC236}">
                <a16:creationId xmlns:a16="http://schemas.microsoft.com/office/drawing/2014/main" id="{EF302451-8F4B-4898-8964-B93AC418902A}"/>
              </a:ext>
            </a:extLst>
          </p:cNvPr>
          <p:cNvSpPr/>
          <p:nvPr/>
        </p:nvSpPr>
        <p:spPr>
          <a:xfrm>
            <a:off x="0" y="6276513"/>
            <a:ext cx="9144000" cy="58148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rial" panose="020B0604020202020204" pitchFamily="34" charset="0"/>
                <a:cs typeface="Arial" panose="020B0604020202020204" pitchFamily="34" charset="0"/>
              </a:rPr>
              <a:t>Fig 11: Power prediction with units</a:t>
            </a:r>
            <a:endParaRPr lang="en-IN" sz="1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7261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92A61-8F99-01B3-6B3E-3FBCFEA527C8}"/>
              </a:ext>
            </a:extLst>
          </p:cNvPr>
          <p:cNvSpPr>
            <a:spLocks noGrp="1"/>
          </p:cNvSpPr>
          <p:nvPr>
            <p:ph type="title"/>
          </p:nvPr>
        </p:nvSpPr>
        <p:spPr>
          <a:xfrm>
            <a:off x="0" y="0"/>
            <a:ext cx="8229600" cy="1143000"/>
          </a:xfrm>
        </p:spPr>
        <p:txBody>
          <a:bodyPr>
            <a:normAutofit/>
          </a:bodyPr>
          <a:lstStyle/>
          <a:p>
            <a:r>
              <a:rPr lang="en-IN" dirty="0">
                <a:latin typeface="Arial" panose="020B0604020202020204" pitchFamily="34" charset="0"/>
                <a:cs typeface="Arial" panose="020B0604020202020204" pitchFamily="34" charset="0"/>
              </a:rPr>
              <a:t>Challenges Faced During Project</a:t>
            </a:r>
          </a:p>
        </p:txBody>
      </p:sp>
      <p:sp>
        <p:nvSpPr>
          <p:cNvPr id="3" name="Content Placeholder 2">
            <a:extLst>
              <a:ext uri="{FF2B5EF4-FFF2-40B4-BE49-F238E27FC236}">
                <a16:creationId xmlns:a16="http://schemas.microsoft.com/office/drawing/2014/main" id="{75DD013D-5D24-F010-5D02-5BA44965BD9E}"/>
              </a:ext>
            </a:extLst>
          </p:cNvPr>
          <p:cNvSpPr>
            <a:spLocks noGrp="1"/>
          </p:cNvSpPr>
          <p:nvPr>
            <p:ph idx="1"/>
          </p:nvPr>
        </p:nvSpPr>
        <p:spPr>
          <a:xfrm>
            <a:off x="315157" y="1394583"/>
            <a:ext cx="8229600" cy="4642803"/>
          </a:xfrm>
        </p:spPr>
        <p:txBody>
          <a:bodyPr>
            <a:normAutofit/>
          </a:bodyPr>
          <a:lstStyle/>
          <a:p>
            <a:r>
              <a:rPr lang="en-US" dirty="0">
                <a:latin typeface="Arial" panose="020B0604020202020204" pitchFamily="34" charset="0"/>
                <a:cs typeface="Arial" panose="020B0604020202020204" pitchFamily="34" charset="0"/>
              </a:rPr>
              <a:t>Column renaming mismatch caused prediction errors</a:t>
            </a:r>
          </a:p>
          <a:p>
            <a:r>
              <a:rPr lang="en-IN" dirty="0">
                <a:latin typeface="Arial" panose="020B0604020202020204" pitchFamily="34" charset="0"/>
                <a:cs typeface="Arial" panose="020B0604020202020204" pitchFamily="34" charset="0"/>
              </a:rPr>
              <a:t>Handling data preprocessing for regression</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Integrating model with Stream lit UI</a:t>
            </a:r>
          </a:p>
          <a:p>
            <a:r>
              <a:rPr lang="en-US" dirty="0">
                <a:latin typeface="Arial" panose="020B0604020202020204" pitchFamily="34" charset="0"/>
                <a:cs typeface="Arial" panose="020B0604020202020204" pitchFamily="34" charset="0"/>
              </a:rPr>
              <a:t>Initial issue with PowerShell virtual environment activation</a:t>
            </a:r>
            <a:endParaRPr lang="en-IN" dirty="0">
              <a:latin typeface="Arial" panose="020B0604020202020204" pitchFamily="34" charset="0"/>
              <a:cs typeface="Arial" panose="020B0604020202020204" pitchFamily="34" charset="0"/>
            </a:endParaRPr>
          </a:p>
          <a:p>
            <a:pPr marL="0" indent="0">
              <a:buNone/>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9121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F2726-BFA0-5039-E7D3-F38EABCE7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9F2E8-E57E-441D-4EE8-A8FA3884A787}"/>
              </a:ext>
            </a:extLst>
          </p:cNvPr>
          <p:cNvSpPr>
            <a:spLocks noGrp="1"/>
          </p:cNvSpPr>
          <p:nvPr>
            <p:ph type="title"/>
          </p:nvPr>
        </p:nvSpPr>
        <p:spPr>
          <a:xfrm>
            <a:off x="0" y="0"/>
            <a:ext cx="8229600" cy="1143000"/>
          </a:xfrm>
        </p:spPr>
        <p:txBody>
          <a:bodyPr>
            <a:normAutofit/>
          </a:bodyPr>
          <a:lstStyle/>
          <a:p>
            <a:r>
              <a:rPr lang="en-IN" dirty="0">
                <a:latin typeface="Arial" panose="020B0604020202020204" pitchFamily="34" charset="0"/>
                <a:cs typeface="Arial" panose="020B0604020202020204" pitchFamily="34" charset="0"/>
              </a:rPr>
              <a:t>Conclusion and Future Scope</a:t>
            </a:r>
          </a:p>
        </p:txBody>
      </p:sp>
      <p:sp>
        <p:nvSpPr>
          <p:cNvPr id="3" name="Content Placeholder 2">
            <a:extLst>
              <a:ext uri="{FF2B5EF4-FFF2-40B4-BE49-F238E27FC236}">
                <a16:creationId xmlns:a16="http://schemas.microsoft.com/office/drawing/2014/main" id="{2C3B9A67-FB1D-1E66-7DFD-A66E6843C9FD}"/>
              </a:ext>
            </a:extLst>
          </p:cNvPr>
          <p:cNvSpPr>
            <a:spLocks noGrp="1"/>
          </p:cNvSpPr>
          <p:nvPr>
            <p:ph idx="1"/>
          </p:nvPr>
        </p:nvSpPr>
        <p:spPr>
          <a:xfrm>
            <a:off x="156963" y="967528"/>
            <a:ext cx="7639826" cy="5803727"/>
          </a:xfrm>
        </p:spPr>
        <p:txBody>
          <a:bodyPr>
            <a:normAutofit/>
          </a:bodyPr>
          <a:lstStyle/>
          <a:p>
            <a:pPr marL="182562" indent="0">
              <a:spcBef>
                <a:spcPct val="0"/>
              </a:spcBef>
              <a:buNone/>
              <a:tabLst>
                <a:tab pos="7802563" algn="l"/>
                <a:tab pos="8158163" algn="l"/>
              </a:tabLst>
            </a:pPr>
            <a:r>
              <a:rPr lang="en-US" b="1" dirty="0">
                <a:solidFill>
                  <a:schemeClr val="accent1"/>
                </a:solidFill>
                <a:latin typeface="Arial" panose="020B0604020202020204" pitchFamily="34" charset="0"/>
                <a:ea typeface="+mj-ea"/>
                <a:cs typeface="Arial" panose="020B0604020202020204" pitchFamily="34" charset="0"/>
              </a:rPr>
              <a:t>Conclusion:</a:t>
            </a:r>
          </a:p>
          <a:p>
            <a:pPr marL="182562" indent="0">
              <a:spcBef>
                <a:spcPct val="0"/>
              </a:spcBef>
              <a:buNone/>
              <a:tabLst>
                <a:tab pos="7802563" algn="l"/>
                <a:tab pos="8158163" algn="l"/>
              </a:tabLst>
            </a:pPr>
            <a:endParaRPr lang="en-US" b="1" dirty="0">
              <a:solidFill>
                <a:schemeClr val="accent1"/>
              </a:solidFill>
              <a:latin typeface="Arial" panose="020B0604020202020204" pitchFamily="34" charset="0"/>
              <a:ea typeface="+mj-ea"/>
              <a:cs typeface="Arial" panose="020B0604020202020204" pitchFamily="34" charset="0"/>
            </a:endParaRPr>
          </a:p>
          <a:p>
            <a:pPr marL="342900" lvl="0" indent="-342900">
              <a:lnSpc>
                <a:spcPct val="107000"/>
              </a:lnSpc>
              <a:spcAft>
                <a:spcPts val="800"/>
              </a:spcAft>
              <a:buFont typeface="Symbol" panose="05050102010706020507" pitchFamily="18" charset="2"/>
              <a:buChar char=""/>
            </a:pPr>
            <a:r>
              <a:rPr lang="en-US" b="1" dirty="0">
                <a:solidFill>
                  <a:schemeClr val="accent1"/>
                </a:solidFill>
                <a:latin typeface="Arial" panose="020B0604020202020204" pitchFamily="34" charset="0"/>
                <a:ea typeface="+mj-ea"/>
                <a:cs typeface="Arial" panose="020B0604020202020204" pitchFamily="34" charset="0"/>
              </a:rPr>
              <a:t>Power Generation Predicted: </a:t>
            </a:r>
            <a:r>
              <a:rPr lang="en-US" dirty="0">
                <a:effectLst/>
                <a:latin typeface="Calibri" panose="020F0502020204030204" pitchFamily="34" charset="0"/>
                <a:ea typeface="Calibri" panose="020F0502020204030204" pitchFamily="34" charset="0"/>
                <a:cs typeface="Times New Roman" panose="02020603050405020304" pitchFamily="18" charset="0"/>
              </a:rPr>
              <a:t>Power generation was successfully predicted using regression techniques, demonstrating accurate forecasting capabilities.</a:t>
            </a:r>
          </a:p>
          <a:p>
            <a:pPr marL="0" lvl="0" indent="0">
              <a:lnSpc>
                <a:spcPct val="107000"/>
              </a:lnSpc>
              <a:spcAft>
                <a:spcPts val="800"/>
              </a:spcAft>
              <a:buNone/>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b="1" dirty="0">
                <a:solidFill>
                  <a:schemeClr val="accent1"/>
                </a:solidFill>
                <a:latin typeface="Arial" panose="020B0604020202020204" pitchFamily="34" charset="0"/>
                <a:ea typeface="+mj-ea"/>
                <a:cs typeface="Arial" panose="020B0604020202020204" pitchFamily="34" charset="0"/>
              </a:rPr>
              <a:t>User-Friendly App: </a:t>
            </a:r>
            <a:r>
              <a:rPr lang="en-US" dirty="0">
                <a:effectLst/>
                <a:latin typeface="Calibri" panose="020F0502020204030204" pitchFamily="34" charset="0"/>
                <a:ea typeface="Calibri" panose="020F0502020204030204" pitchFamily="34" charset="0"/>
                <a:cs typeface="Times New Roman" panose="02020603050405020304" pitchFamily="18" charset="0"/>
              </a:rPr>
              <a:t>A simple and interactive Streamlit app was developed, enabling users to make real time power generation predictions with ease.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8702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5EEC2-D0A5-4B09-8A53-9591E442C933}"/>
              </a:ext>
            </a:extLst>
          </p:cNvPr>
          <p:cNvSpPr>
            <a:spLocks noGrp="1"/>
          </p:cNvSpPr>
          <p:nvPr>
            <p:ph type="title"/>
          </p:nvPr>
        </p:nvSpPr>
        <p:spPr>
          <a:xfrm>
            <a:off x="-9664" y="0"/>
            <a:ext cx="6347713" cy="858175"/>
          </a:xfrm>
        </p:spPr>
        <p:txBody>
          <a:bodyPr>
            <a:noAutofit/>
          </a:bodyPr>
          <a:lstStyle/>
          <a:p>
            <a:r>
              <a:rPr lang="en-US" dirty="0">
                <a:solidFill>
                  <a:schemeClr val="accent1"/>
                </a:solidFill>
                <a:latin typeface="Arial" panose="020B0604020202020204" pitchFamily="34" charset="0"/>
                <a:ea typeface="+mj-ea"/>
                <a:cs typeface="Arial" panose="020B0604020202020204" pitchFamily="34" charset="0"/>
              </a:rPr>
              <a:t>Future Scope:</a:t>
            </a:r>
            <a:br>
              <a:rPr lang="en-US" sz="4800" dirty="0">
                <a:solidFill>
                  <a:schemeClr val="accent1"/>
                </a:solidFill>
                <a:latin typeface="Arial" panose="020B0604020202020204" pitchFamily="34" charset="0"/>
                <a:ea typeface="+mj-ea"/>
                <a:cs typeface="Arial" panose="020B0604020202020204" pitchFamily="34" charset="0"/>
              </a:rPr>
            </a:br>
            <a:endParaRPr lang="en-IN" sz="4800" dirty="0"/>
          </a:p>
        </p:txBody>
      </p:sp>
      <p:sp>
        <p:nvSpPr>
          <p:cNvPr id="3" name="Content Placeholder 2">
            <a:extLst>
              <a:ext uri="{FF2B5EF4-FFF2-40B4-BE49-F238E27FC236}">
                <a16:creationId xmlns:a16="http://schemas.microsoft.com/office/drawing/2014/main" id="{7473623B-F34E-47A6-8363-7EB98951E387}"/>
              </a:ext>
            </a:extLst>
          </p:cNvPr>
          <p:cNvSpPr>
            <a:spLocks noGrp="1"/>
          </p:cNvSpPr>
          <p:nvPr>
            <p:ph idx="1"/>
          </p:nvPr>
        </p:nvSpPr>
        <p:spPr>
          <a:xfrm>
            <a:off x="290003" y="1397111"/>
            <a:ext cx="6954176" cy="4213577"/>
          </a:xfrm>
        </p:spPr>
        <p:txBody>
          <a:bodyPr>
            <a:normAutofit/>
          </a:bodyPr>
          <a:lstStyle/>
          <a:p>
            <a:pPr>
              <a:lnSpc>
                <a:spcPct val="107000"/>
              </a:lnSpc>
              <a:spcAft>
                <a:spcPts val="800"/>
              </a:spcAft>
              <a:buFont typeface="Symbol" panose="05050102010706020507" pitchFamily="18" charset="2"/>
              <a:buChar char=""/>
              <a:tabLst>
                <a:tab pos="7802563" algn="l"/>
                <a:tab pos="8158163" algn="l"/>
              </a:tabLst>
            </a:pPr>
            <a:r>
              <a:rPr lang="en-US" b="1" dirty="0">
                <a:solidFill>
                  <a:schemeClr val="accent1"/>
                </a:solidFill>
                <a:latin typeface="Arial" panose="020B0604020202020204" pitchFamily="34" charset="0"/>
                <a:ea typeface="+mj-ea"/>
                <a:cs typeface="Arial" panose="020B0604020202020204" pitchFamily="34" charset="0"/>
              </a:rPr>
              <a:t>Trend Visualization: </a:t>
            </a:r>
            <a:r>
              <a:rPr lang="en-US" dirty="0">
                <a:solidFill>
                  <a:schemeClr val="tx1"/>
                </a:solidFill>
                <a:latin typeface="Arial" panose="020B0604020202020204" pitchFamily="34" charset="0"/>
                <a:ea typeface="+mj-ea"/>
                <a:cs typeface="Arial" panose="020B0604020202020204" pitchFamily="34" charset="0"/>
              </a:rPr>
              <a:t>Add historical power generation trends.</a:t>
            </a:r>
          </a:p>
          <a:p>
            <a:pPr marL="182562" indent="0" algn="just" defTabSz="263525">
              <a:buNone/>
              <a:tabLst>
                <a:tab pos="7802563" algn="l"/>
                <a:tab pos="8158163" algn="l"/>
              </a:tabLst>
            </a:pPr>
            <a:endParaRPr lang="en-US" dirty="0">
              <a:latin typeface="Arial" panose="020B0604020202020204" pitchFamily="34" charset="0"/>
              <a:cs typeface="Arial" panose="020B0604020202020204" pitchFamily="34" charset="0"/>
            </a:endParaRPr>
          </a:p>
          <a:p>
            <a:pPr>
              <a:lnSpc>
                <a:spcPct val="107000"/>
              </a:lnSpc>
              <a:spcAft>
                <a:spcPts val="800"/>
              </a:spcAft>
              <a:buFont typeface="Symbol" panose="05050102010706020507" pitchFamily="18" charset="2"/>
              <a:buChar char=""/>
              <a:tabLst>
                <a:tab pos="7802563" algn="l"/>
                <a:tab pos="8158163" algn="l"/>
              </a:tabLst>
            </a:pPr>
            <a:r>
              <a:rPr lang="en-US" b="1" dirty="0">
                <a:solidFill>
                  <a:schemeClr val="accent1"/>
                </a:solidFill>
                <a:latin typeface="Arial" panose="020B0604020202020204" pitchFamily="34" charset="0"/>
                <a:ea typeface="+mj-ea"/>
                <a:cs typeface="Arial" panose="020B0604020202020204" pitchFamily="34" charset="0"/>
              </a:rPr>
              <a:t>Online Deployment: </a:t>
            </a:r>
            <a:r>
              <a:rPr lang="en-US" dirty="0">
                <a:solidFill>
                  <a:schemeClr val="tx1"/>
                </a:solidFill>
                <a:latin typeface="Arial" panose="020B0604020202020204" pitchFamily="34" charset="0"/>
                <a:ea typeface="+mj-ea"/>
                <a:cs typeface="Arial" panose="020B0604020202020204" pitchFamily="34" charset="0"/>
              </a:rPr>
              <a:t>Deploy app on Streamlit Cloud or HuggingFace.</a:t>
            </a:r>
          </a:p>
          <a:p>
            <a:pPr>
              <a:lnSpc>
                <a:spcPct val="107000"/>
              </a:lnSpc>
              <a:spcAft>
                <a:spcPts val="800"/>
              </a:spcAft>
              <a:buFont typeface="Symbol" panose="05050102010706020507" pitchFamily="18" charset="2"/>
              <a:buChar char=""/>
              <a:tabLst>
                <a:tab pos="7802563" algn="l"/>
                <a:tab pos="8158163" algn="l"/>
              </a:tabLst>
            </a:pPr>
            <a:endParaRPr lang="en-US" b="1" dirty="0">
              <a:solidFill>
                <a:schemeClr val="accent1"/>
              </a:solidFill>
              <a:latin typeface="Arial" panose="020B0604020202020204" pitchFamily="34" charset="0"/>
              <a:ea typeface="+mj-ea"/>
              <a:cs typeface="Arial" panose="020B0604020202020204" pitchFamily="34" charset="0"/>
            </a:endParaRPr>
          </a:p>
          <a:p>
            <a:pPr>
              <a:lnSpc>
                <a:spcPct val="107000"/>
              </a:lnSpc>
              <a:spcAft>
                <a:spcPts val="800"/>
              </a:spcAft>
              <a:buFont typeface="Symbol" panose="05050102010706020507" pitchFamily="18" charset="2"/>
              <a:buChar char=""/>
              <a:tabLst>
                <a:tab pos="7802563" algn="l"/>
                <a:tab pos="8158163" algn="l"/>
              </a:tabLst>
            </a:pPr>
            <a:r>
              <a:rPr lang="en-US" b="1" dirty="0">
                <a:solidFill>
                  <a:schemeClr val="accent1"/>
                </a:solidFill>
                <a:latin typeface="Arial" panose="020B0604020202020204" pitchFamily="34" charset="0"/>
                <a:ea typeface="+mj-ea"/>
                <a:cs typeface="Arial" panose="020B0604020202020204" pitchFamily="34" charset="0"/>
              </a:rPr>
              <a:t>Real-Time Data:</a:t>
            </a:r>
            <a:r>
              <a:rPr lang="en-US" dirty="0">
                <a:solidFill>
                  <a:schemeClr val="tx1"/>
                </a:solidFill>
                <a:latin typeface="Arial" panose="020B0604020202020204" pitchFamily="34" charset="0"/>
                <a:ea typeface="+mj-ea"/>
                <a:cs typeface="Arial" panose="020B0604020202020204" pitchFamily="34" charset="0"/>
              </a:rPr>
              <a:t> Retrain with live weather data for better accuracy.</a:t>
            </a:r>
          </a:p>
          <a:p>
            <a:pPr marL="0" indent="0">
              <a:buNone/>
            </a:pPr>
            <a:endParaRPr lang="en-IN" dirty="0">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1796323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5696E2-3C6F-B998-69BC-44E408686112}"/>
              </a:ext>
            </a:extLst>
          </p:cNvPr>
          <p:cNvSpPr>
            <a:spLocks noGrp="1"/>
          </p:cNvSpPr>
          <p:nvPr>
            <p:ph idx="1"/>
          </p:nvPr>
        </p:nvSpPr>
        <p:spPr>
          <a:xfrm>
            <a:off x="0" y="0"/>
            <a:ext cx="9144000" cy="6858000"/>
          </a:xfrm>
        </p:spPr>
        <p:txBody>
          <a:bodyPr>
            <a:normAutofit/>
          </a:bodyPr>
          <a:lstStyle/>
          <a:p>
            <a:pPr marL="0" indent="0" algn="ctr">
              <a:buNone/>
            </a:pPr>
            <a:r>
              <a:rPr lang="en-IN" dirty="0">
                <a:latin typeface="Arial" panose="020B0604020202020204" pitchFamily="34" charset="0"/>
                <a:cs typeface="Arial" panose="020B0604020202020204" pitchFamily="34" charset="0"/>
              </a:rPr>
              <a:t>                  </a:t>
            </a:r>
          </a:p>
          <a:p>
            <a:pPr marL="0" indent="0" algn="ctr">
              <a:buNone/>
            </a:pPr>
            <a:endParaRPr lang="en-IN" sz="4400" dirty="0">
              <a:latin typeface="Arial" panose="020B0604020202020204" pitchFamily="34" charset="0"/>
              <a:cs typeface="Arial" panose="020B0604020202020204" pitchFamily="34" charset="0"/>
            </a:endParaRPr>
          </a:p>
          <a:p>
            <a:pPr marL="0" indent="0" algn="ctr">
              <a:buNone/>
            </a:pPr>
            <a:endParaRPr lang="en-IN" sz="4400" dirty="0">
              <a:latin typeface="Arial" panose="020B0604020202020204" pitchFamily="34" charset="0"/>
              <a:cs typeface="Arial" panose="020B0604020202020204" pitchFamily="34" charset="0"/>
            </a:endParaRPr>
          </a:p>
          <a:p>
            <a:pPr marL="0" indent="0" algn="ctr">
              <a:buNone/>
            </a:pPr>
            <a:endParaRPr lang="en-IN" sz="4400" dirty="0">
              <a:latin typeface="Arial" panose="020B0604020202020204" pitchFamily="34" charset="0"/>
              <a:cs typeface="Arial" panose="020B0604020202020204" pitchFamily="34" charset="0"/>
            </a:endParaRPr>
          </a:p>
          <a:p>
            <a:pPr marL="0" indent="0" algn="ctr">
              <a:buNone/>
            </a:pPr>
            <a:r>
              <a:rPr lang="en-IN" sz="5400" b="1" dirty="0">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8308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491</TotalTime>
  <Words>838</Words>
  <Application>Microsoft Office PowerPoint</Application>
  <PresentationFormat>On-screen Show (4:3)</PresentationFormat>
  <Paragraphs>118</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Symbol</vt:lpstr>
      <vt:lpstr>Times New Roman</vt:lpstr>
      <vt:lpstr>Trebuchet MS</vt:lpstr>
      <vt:lpstr>Wingdings 3</vt:lpstr>
      <vt:lpstr>Facet</vt:lpstr>
      <vt:lpstr>Solar Power Generation Prediction</vt:lpstr>
      <vt:lpstr>PowerPoint Presentation</vt:lpstr>
      <vt:lpstr>Introduction &amp; Business Problem</vt:lpstr>
      <vt:lpstr>Dataset Overview</vt:lpstr>
      <vt:lpstr>Exploratory Data Analysis (EDA)</vt:lpstr>
      <vt:lpstr>PowerPoint Presentation</vt:lpstr>
      <vt:lpstr> • Distance-to-solar-noon has a moderate positive correlation with power-generated (as expected, since solar power peaks around noon).  • sky-cover and humidity have negative correlations with power-generated, indicating cloudier, humid days reduce power generation.  • wind-speed and average-wind-speed-(period) are correlated but not strongly linked to power generated. </vt:lpstr>
      <vt:lpstr>PowerPoint Presentation</vt:lpstr>
      <vt:lpstr>PowerPoint Presentation</vt:lpstr>
      <vt:lpstr>PowerPoint Presentation</vt:lpstr>
      <vt:lpstr>Feature Engineering</vt:lpstr>
      <vt:lpstr>Model Building</vt:lpstr>
      <vt:lpstr>Model Selection</vt:lpstr>
      <vt:lpstr>Model Selection</vt:lpstr>
      <vt:lpstr>Model Evaluation</vt:lpstr>
      <vt:lpstr>Model Deployment</vt:lpstr>
      <vt:lpstr>PowerPoint Presentation</vt:lpstr>
      <vt:lpstr>PowerPoint Presentation</vt:lpstr>
      <vt:lpstr>PowerPoint Presentation</vt:lpstr>
      <vt:lpstr>PowerPoint Presentation</vt:lpstr>
      <vt:lpstr>PowerPoint Presentation</vt:lpstr>
      <vt:lpstr>Challenges Faced During Project</vt:lpstr>
      <vt:lpstr>Conclusion and Future Scope</vt:lpstr>
      <vt:lpstr>Future Scope: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Power Generation Prediction</dc:title>
  <dc:subject/>
  <dc:creator>Binu Krishna</dc:creator>
  <cp:keywords/>
  <dc:description>generated using python-pptx</dc:description>
  <cp:lastModifiedBy>NIHARIKA C M</cp:lastModifiedBy>
  <cp:revision>58</cp:revision>
  <dcterms:created xsi:type="dcterms:W3CDTF">2013-01-27T09:14:16Z</dcterms:created>
  <dcterms:modified xsi:type="dcterms:W3CDTF">2025-04-24T09:52:31Z</dcterms:modified>
  <cp:category/>
</cp:coreProperties>
</file>